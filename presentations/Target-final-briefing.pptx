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  <p:sldId id="256" r:id="rId1000"/>
    <p:sldId id="257" r:id="rId1001"/>
    <p:sldId id="258" r:id="rId1002"/>
    <p:sldId id="259" r:id="rId1003"/>
    <p:sldId id="260" r:id="rId100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000" Type="http://schemas.openxmlformats.org/officeDocument/2006/relationships/slide" Target="slides/slide1.xml"/><Relationship Id="rId1001" Type="http://schemas.openxmlformats.org/officeDocument/2006/relationships/slide" Target="slides/slide2.xml"/><Relationship Id="rId1002" Type="http://schemas.openxmlformats.org/officeDocument/2006/relationships/slide" Target="slides/slide3.xml"/><Relationship Id="rId1003" Type="http://schemas.openxmlformats.org/officeDocument/2006/relationships/slide" Target="slides/slide4.xml"/><Relationship Id="rId1004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Dedicated research cover. Prepared for Amit Gandre. Research date October 25, 2026. Search snippets and leadership candidates need original-source verification; revenue peers are provisional. See subsequent slides for findings and linked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link1" Type="http://schemas.openxmlformats.org/officeDocument/2006/relationships/hyperlink" Target="https://www.ciodive.com/news/target-taps-chandhu-nair-chief-ai-officer/827613" TargetMode="External"/><Relationship Id="link2" Type="http://schemas.openxmlformats.org/officeDocument/2006/relationships/hyperlink" Target="https://www.ciodive.com/news/target-taps-chandhu-nair-chief-ai-officer/827613" TargetMode="External"/><Relationship Id="link3" Type="http://schemas.openxmlformats.org/officeDocument/2006/relationships/hyperlink" Target="https://corporate.target.com/news-features/article/2026/08/chandhu-nair-purvi-shah" TargetMode="External"/><Relationship Id="link4" Type="http://schemas.openxmlformats.org/officeDocument/2006/relationships/hyperlink" Target="https://corporate.target.com/news-features/article/2026/08/chandhu-nair-purvi-shah" TargetMode="External"/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link1" Type="http://schemas.openxmlformats.org/officeDocument/2006/relationships/hyperlink" Target="https://ir.kroger.com/overview/default.aspx" TargetMode="External"/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link1" Type="http://schemas.openxmlformats.org/officeDocument/2006/relationships/hyperlink" Target="https://www.ciodive.com/news/target-taps-chandhu-nair-chief-ai-officer/827613" TargetMode="External"/><Relationship Id="link2" Type="http://schemas.openxmlformats.org/officeDocument/2006/relationships/hyperlink" Target="https://www.ciodive.com/news/target-taps-chandhu-nair-chief-ai-officer/827613" TargetMode="External"/><Relationship Id="link3" Type="http://schemas.openxmlformats.org/officeDocument/2006/relationships/hyperlink" Target="https://corporate.target.com/news-features/article/2026/08/chandhu-nair-purvi-shah" TargetMode="External"/><Relationship Id="link4" Type="http://schemas.openxmlformats.org/officeDocument/2006/relationships/hyperlink" Target="https://corporate.target.com/news-features/article/2026/08/chandhu-nair-purvi-shah" TargetMode="External"/><Relationship Id="link5" Type="http://schemas.openxmlformats.org/officeDocument/2006/relationships/hyperlink" Target="https://www.linkedin.com/in/michael-fiddelke" TargetMode="External"/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link1" Type="http://schemas.openxmlformats.org/officeDocument/2006/relationships/hyperlink" Target="https://ir.kroger.com/overview/default.aspx" TargetMode="External"/><Relationship Id="link10" Type="http://schemas.openxmlformats.org/officeDocument/2006/relationships/hyperlink" Target="https://www.linkedin.com/posts/kroger_gregforan-kroger-wearekroger-activity-7426683733988036608-tZXA" TargetMode="External"/><Relationship Id="link11" Type="http://schemas.openxmlformats.org/officeDocument/2006/relationships/hyperlink" Target="https://www.linkedin.com/posts/kroger_gregforan-kroger-wearekroger-activity-7426683733988036608-tZXA" TargetMode="External"/><Relationship Id="link12" Type="http://schemas.openxmlformats.org/officeDocument/2006/relationships/hyperlink" Target="https://www.linkedin.com/posts/kroger_gregforan-kroger-wearekroger-activity-7426683733988036608-tZXA" TargetMode="External"/><Relationship Id="link13" Type="http://schemas.openxmlformats.org/officeDocument/2006/relationships/hyperlink" Target="https://www.grocerydive.com/news/kroger-reshaping-c-suite/830544" TargetMode="External"/><Relationship Id="link14" Type="http://schemas.openxmlformats.org/officeDocument/2006/relationships/hyperlink" Target="https://www.grocerydive.com/news/kroger-reshaping-c-suite/830544" TargetMode="External"/><Relationship Id="link15" Type="http://schemas.openxmlformats.org/officeDocument/2006/relationships/hyperlink" Target="https://www.grocerydive.com/news/kroger-reshaping-c-suite/830544" TargetMode="External"/><Relationship Id="link16" Type="http://schemas.openxmlformats.org/officeDocument/2006/relationships/hyperlink" Target="https://www.evanta.com/ciso/ohio" TargetMode="External"/><Relationship Id="link17" Type="http://schemas.openxmlformats.org/officeDocument/2006/relationships/hyperlink" Target="https://www.evanta.com/ciso/ohio" TargetMode="External"/><Relationship Id="link18" Type="http://schemas.openxmlformats.org/officeDocument/2006/relationships/hyperlink" Target="https://www.evanta.com/ciso/ohio" TargetMode="External"/><Relationship Id="link19" Type="http://schemas.openxmlformats.org/officeDocument/2006/relationships/hyperlink" Target="https://corporate.target.com/about/leadership-team" TargetMode="External"/><Relationship Id="link2" Type="http://schemas.openxmlformats.org/officeDocument/2006/relationships/hyperlink" Target="https://ir.kroger.com/overview/default.aspx" TargetMode="External"/><Relationship Id="link20" Type="http://schemas.openxmlformats.org/officeDocument/2006/relationships/hyperlink" Target="https://corporate.target.com/about/leadership-team" TargetMode="External"/><Relationship Id="link21" Type="http://schemas.openxmlformats.org/officeDocument/2006/relationships/hyperlink" Target="https://corporate.target.com/about/leadership-team" TargetMode="External"/><Relationship Id="link22" Type="http://schemas.openxmlformats.org/officeDocument/2006/relationships/hyperlink" Target="https://www.linkedin.com/in/michael-fiddelke" TargetMode="External"/><Relationship Id="link23" Type="http://schemas.openxmlformats.org/officeDocument/2006/relationships/hyperlink" Target="https://www.linkedin.com/in/michael-fiddelke" TargetMode="External"/><Relationship Id="link24" Type="http://schemas.openxmlformats.org/officeDocument/2006/relationships/hyperlink" Target="https://www.linkedin.com/in/michael-fiddelke" TargetMode="External"/><Relationship Id="link25" Type="http://schemas.openxmlformats.org/officeDocument/2006/relationships/hyperlink" Target="https://www.linkedin.com/in/jodie-kautt-23b392174" TargetMode="External"/><Relationship Id="link26" Type="http://schemas.openxmlformats.org/officeDocument/2006/relationships/hyperlink" Target="https://www.linkedin.com/in/jodie-kautt-23b392174" TargetMode="External"/><Relationship Id="link27" Type="http://schemas.openxmlformats.org/officeDocument/2006/relationships/hyperlink" Target="https://www.linkedin.com/in/jodie-kautt-23b392174" TargetMode="External"/><Relationship Id="link28" Type="http://schemas.openxmlformats.org/officeDocument/2006/relationships/hyperlink" Target="https://www.rsaconference.com/experts/rich-agostino" TargetMode="External"/><Relationship Id="link29" Type="http://schemas.openxmlformats.org/officeDocument/2006/relationships/hyperlink" Target="https://www.rsaconference.com/experts/rich-agostino" TargetMode="External"/><Relationship Id="link3" Type="http://schemas.openxmlformats.org/officeDocument/2006/relationships/hyperlink" Target="https://ir.kroger.com/overview/default.aspx" TargetMode="External"/><Relationship Id="link30" Type="http://schemas.openxmlformats.org/officeDocument/2006/relationships/hyperlink" Target="https://www.rsaconference.com/experts/rich-agostino" TargetMode="External"/><Relationship Id="link4" Type="http://schemas.openxmlformats.org/officeDocument/2006/relationships/hyperlink" Target="https://corporate.target.com/news-features/article/2026/08/chandhu-nair-purvi-shah" TargetMode="External"/><Relationship Id="link5" Type="http://schemas.openxmlformats.org/officeDocument/2006/relationships/hyperlink" Target="https://corporate.target.com/news-features/article/2026/08/chandhu-nair-purvi-shah" TargetMode="External"/><Relationship Id="link6" Type="http://schemas.openxmlformats.org/officeDocument/2006/relationships/hyperlink" Target="https://corporate.target.com/news-features/article/2026/08/chandhu-nair-purvi-shah" TargetMode="External"/><Relationship Id="link7" Type="http://schemas.openxmlformats.org/officeDocument/2006/relationships/hyperlink" Target="https://www.ciodive.com/news/target-taps-chandhu-nair-chief-ai-officer/827613" TargetMode="External"/><Relationship Id="link8" Type="http://schemas.openxmlformats.org/officeDocument/2006/relationships/hyperlink" Target="https://www.ciodive.com/news/target-taps-chandhu-nair-chief-ai-officer/827613" TargetMode="External"/><Relationship Id="link9" Type="http://schemas.openxmlformats.org/officeDocument/2006/relationships/hyperlink" Target="https://www.ciodive.com/news/target-taps-chandhu-nair-chief-ai-officer/827613" TargetMode="External"/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1695" cy="1435608"/>
          </a:xfrm>
          <a:prstGeom prst="rect">
            <a:avLst>
              <a:gd name="adj" fmla="val 8000"/>
            </a:avLst>
          </a:prstGeom>
          <a:solidFill>
            <a:srgbClr val="0D1B2E"/>
          </a:solidFill>
          <a:ln w="6350">
            <a:solidFill>
              <a:srgbClr val="0D1B2E"/>
            </a:solidFill>
          </a:ln>
        </p:spPr>
        <p:txBody>
          <a:bodyPr/>
          <a:p/>
        </p:txBody>
      </p:sp>
      <p:sp>
        <p:nvSpPr>
          <p:cNvPr id="3" name="Card 3"/>
          <p:cNvSpPr/>
          <p:nvPr/>
        </p:nvSpPr>
        <p:spPr>
          <a:xfrm>
            <a:off x="548640" y="301752"/>
            <a:ext cx="384048" cy="50292"/>
          </a:xfrm>
          <a:prstGeom prst="rect">
            <a:avLst>
              <a:gd name="adj" fmla="val 8000"/>
            </a:avLst>
          </a:prstGeom>
          <a:solidFill>
            <a:srgbClr val="68E2CD"/>
          </a:solidFill>
          <a:ln w="6350">
            <a:solidFill>
              <a:srgbClr val="68E2CD"/>
            </a:solidFill>
          </a:ln>
        </p:spPr>
        <p:txBody>
          <a:bodyPr/>
          <a:p/>
        </p:txBody>
      </p:sp>
      <p:sp>
        <p:nvSpPr>
          <p:cNvPr id="4" name="Text 4"/>
          <p:cNvSpPr txBox="1"/>
          <p:nvPr/>
        </p:nvSpPr>
        <p:spPr>
          <a:xfrm>
            <a:off x="1024128" y="228600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40" u="none" b="1">
                <a:solidFill>
                  <a:srgbClr val="A7BBD2"/>
                </a:solidFill>
                <a:latin typeface="Aptos"/>
              </a:rPr>
              <a:t>PUBLIC-SOURCE RESEARCH  /  TARGET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548640" y="603504"/>
            <a:ext cx="11018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3400" u="none" b="1">
                <a:solidFill>
                  <a:srgbClr val="FFFFFF"/>
                </a:solidFill>
                <a:latin typeface="Aptos"/>
              </a:rPr>
              <a:t>Target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566928" y="1133856"/>
            <a:ext cx="10972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50" u="none">
                <a:solidFill>
                  <a:srgbClr val="B8C9DB"/>
                </a:solidFill>
                <a:latin typeface="Aptos"/>
              </a:rPr>
              <a:t>IT &amp; cybersecurity market briefing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548640" y="1499616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00" u="none">
                <a:solidFill>
                  <a:srgbClr val="B8C9DB"/>
                </a:solidFill>
                <a:latin typeface="Aptos"/>
              </a:rPr>
              <a:t>Window 2026-07-25 → 2026-10-25   |   Research date 2026-10-25</a:t>
            </a:r>
            <a:endParaRPr lang="en-US"/>
          </a:p>
        </p:txBody>
      </p:sp>
      <p:sp>
        <p:nvSpPr>
          <p:cNvPr id="8" name="Card 8"/>
          <p:cNvSpPr/>
          <p:nvPr/>
        </p:nvSpPr>
        <p:spPr>
          <a:xfrm>
            <a:off x="548640" y="1783080"/>
            <a:ext cx="2633472" cy="932688"/>
          </a:xfrm>
          <a:prstGeom prst="roundRect">
            <a:avLst>
              <a:gd name="adj" fmla="val 8000"/>
            </a:avLst>
          </a:prstGeom>
          <a:solidFill>
            <a:srgbClr val="162A43"/>
          </a:solidFill>
          <a:ln w="6350">
            <a:solidFill>
              <a:srgbClr val="162A43"/>
            </a:solidFill>
          </a:ln>
        </p:spPr>
        <p:txBody>
          <a:bodyPr/>
          <a:p/>
        </p:txBody>
      </p:sp>
      <p:sp>
        <p:nvSpPr>
          <p:cNvPr id="9" name="Text 9"/>
          <p:cNvSpPr txBox="1"/>
          <p:nvPr/>
        </p:nvSpPr>
        <p:spPr>
          <a:xfrm>
            <a:off x="713232" y="1901952"/>
            <a:ext cx="228600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2900" u="none" b="1">
                <a:solidFill>
                  <a:srgbClr val="68E2CD"/>
                </a:solidFill>
                <a:latin typeface="Aptos"/>
              </a:rPr>
              <a:t>2</a:t>
            </a:r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713232" y="2414016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30" u="none" b="1">
                <a:solidFill>
                  <a:srgbClr val="C6D5E6"/>
                </a:solidFill>
                <a:latin typeface="Aptos"/>
              </a:rPr>
              <a:t>COMPANIES</a:t>
            </a:r>
            <a:endParaRPr lang="en-US"/>
          </a:p>
        </p:txBody>
      </p:sp>
      <p:sp>
        <p:nvSpPr>
          <p:cNvPr id="11" name="Card 11"/>
          <p:cNvSpPr/>
          <p:nvPr/>
        </p:nvSpPr>
        <p:spPr>
          <a:xfrm>
            <a:off x="3364992" y="1783080"/>
            <a:ext cx="2633472" cy="932688"/>
          </a:xfrm>
          <a:prstGeom prst="roundRect">
            <a:avLst>
              <a:gd name="adj" fmla="val 8000"/>
            </a:avLst>
          </a:prstGeom>
          <a:solidFill>
            <a:srgbClr val="162A43"/>
          </a:solidFill>
          <a:ln w="6350">
            <a:solidFill>
              <a:srgbClr val="162A43"/>
            </a:solidFill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3529584" y="1901952"/>
            <a:ext cx="228600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2900" u="none" b="1">
                <a:solidFill>
                  <a:srgbClr val="68E2CD"/>
                </a:solidFill>
                <a:latin typeface="Aptos"/>
              </a:rPr>
              <a:t>2</a:t>
            </a:r>
            <a:endParaRPr lang="en-US"/>
          </a:p>
        </p:txBody>
      </p:sp>
      <p:sp>
        <p:nvSpPr>
          <p:cNvPr id="13" name="Text 13"/>
          <p:cNvSpPr txBox="1"/>
          <p:nvPr/>
        </p:nvSpPr>
        <p:spPr>
          <a:xfrm>
            <a:off x="3529584" y="2414016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30" u="none" b="1">
                <a:solidFill>
                  <a:srgbClr val="C6D5E6"/>
                </a:solidFill>
                <a:latin typeface="Aptos"/>
              </a:rPr>
              <a:t>EXTRACTED SIGNALS</a:t>
            </a:r>
            <a:endParaRPr lang="en-US"/>
          </a:p>
        </p:txBody>
      </p:sp>
      <p:sp>
        <p:nvSpPr>
          <p:cNvPr id="14" name="Card 14"/>
          <p:cNvSpPr/>
          <p:nvPr/>
        </p:nvSpPr>
        <p:spPr>
          <a:xfrm>
            <a:off x="6181344" y="1783080"/>
            <a:ext cx="2633472" cy="932688"/>
          </a:xfrm>
          <a:prstGeom prst="roundRect">
            <a:avLst>
              <a:gd name="adj" fmla="val 8000"/>
            </a:avLst>
          </a:prstGeom>
          <a:solidFill>
            <a:srgbClr val="162A43"/>
          </a:solidFill>
          <a:ln w="6350">
            <a:solidFill>
              <a:srgbClr val="162A43"/>
            </a:solidFill>
          </a:ln>
        </p:spPr>
        <p:txBody>
          <a:bodyPr/>
          <a:p/>
        </p:txBody>
      </p:sp>
      <p:sp>
        <p:nvSpPr>
          <p:cNvPr id="15" name="Text 15"/>
          <p:cNvSpPr txBox="1"/>
          <p:nvPr/>
        </p:nvSpPr>
        <p:spPr>
          <a:xfrm>
            <a:off x="6345936" y="1901952"/>
            <a:ext cx="228600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2900" u="none" b="1">
                <a:solidFill>
                  <a:srgbClr val="68E2CD"/>
                </a:solidFill>
                <a:latin typeface="Aptos"/>
              </a:rPr>
              <a:t>39</a:t>
            </a:r>
            <a:endParaRPr lang="en-US"/>
          </a:p>
        </p:txBody>
      </p:sp>
      <p:sp>
        <p:nvSpPr>
          <p:cNvPr id="16" name="Text 16"/>
          <p:cNvSpPr txBox="1"/>
          <p:nvPr/>
        </p:nvSpPr>
        <p:spPr>
          <a:xfrm>
            <a:off x="6345936" y="2414016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30" u="none" b="1">
                <a:solidFill>
                  <a:srgbClr val="C6D5E6"/>
                </a:solidFill>
                <a:latin typeface="Aptos"/>
              </a:rPr>
              <a:t>SOURCE RECORDS</a:t>
            </a:r>
            <a:endParaRPr lang="en-US"/>
          </a:p>
        </p:txBody>
      </p:sp>
      <p:sp>
        <p:nvSpPr>
          <p:cNvPr id="17" name="Card 17"/>
          <p:cNvSpPr/>
          <p:nvPr/>
        </p:nvSpPr>
        <p:spPr>
          <a:xfrm>
            <a:off x="8997696" y="1783080"/>
            <a:ext cx="2633472" cy="932688"/>
          </a:xfrm>
          <a:prstGeom prst="roundRect">
            <a:avLst>
              <a:gd name="adj" fmla="val 8000"/>
            </a:avLst>
          </a:prstGeom>
          <a:solidFill>
            <a:srgbClr val="162A43"/>
          </a:solidFill>
          <a:ln w="6350">
            <a:solidFill>
              <a:srgbClr val="162A43"/>
            </a:solidFill>
          </a:ln>
        </p:spPr>
        <p:txBody>
          <a:bodyPr/>
          <a:p/>
        </p:txBody>
      </p:sp>
      <p:sp>
        <p:nvSpPr>
          <p:cNvPr id="18" name="Text 18"/>
          <p:cNvSpPr txBox="1"/>
          <p:nvPr/>
        </p:nvSpPr>
        <p:spPr>
          <a:xfrm>
            <a:off x="9162288" y="1901952"/>
            <a:ext cx="228600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2900" u="none" b="1">
                <a:solidFill>
                  <a:srgbClr val="68E2CD"/>
                </a:solidFill>
                <a:latin typeface="Aptos"/>
              </a:rPr>
              <a:t>3</a:t>
            </a:r>
            <a:endParaRPr lang="en-US"/>
          </a:p>
        </p:txBody>
      </p:sp>
      <p:sp>
        <p:nvSpPr>
          <p:cNvPr id="19" name="Text 19"/>
          <p:cNvSpPr txBox="1"/>
          <p:nvPr/>
        </p:nvSpPr>
        <p:spPr>
          <a:xfrm>
            <a:off x="9162288" y="2414016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30" u="none" b="1">
                <a:solidFill>
                  <a:srgbClr val="C6D5E6"/>
                </a:solidFill>
                <a:latin typeface="Aptos"/>
              </a:rPr>
              <a:t>LEADERS RESEARCHED</a:t>
            </a:r>
            <a:endParaRPr lang="en-US"/>
          </a:p>
        </p:txBody>
      </p:sp>
      <p:sp>
        <p:nvSpPr>
          <p:cNvPr id="20" name="Card 20"/>
          <p:cNvSpPr/>
          <p:nvPr/>
        </p:nvSpPr>
        <p:spPr>
          <a:xfrm>
            <a:off x="548640" y="3063240"/>
            <a:ext cx="3584448" cy="2249424"/>
          </a:xfrm>
          <a:prstGeom prst="roundRect">
            <a:avLst>
              <a:gd name="adj" fmla="val 8000"/>
            </a:avLst>
          </a:prstGeom>
          <a:solidFill>
            <a:srgbClr val="162A43"/>
          </a:solidFill>
          <a:ln w="6350">
            <a:solidFill>
              <a:srgbClr val="162A43"/>
            </a:solidFill>
          </a:ln>
        </p:spPr>
        <p:txBody>
          <a:bodyPr/>
          <a:p/>
        </p:txBody>
      </p:sp>
      <p:sp>
        <p:nvSpPr>
          <p:cNvPr id="21" name="Card 21"/>
          <p:cNvSpPr/>
          <p:nvPr/>
        </p:nvSpPr>
        <p:spPr>
          <a:xfrm>
            <a:off x="548640" y="3063240"/>
            <a:ext cx="50292" cy="2249424"/>
          </a:xfrm>
          <a:prstGeom prst="rect">
            <a:avLst>
              <a:gd name="adj" fmla="val 8000"/>
            </a:avLst>
          </a:prstGeom>
          <a:solidFill>
            <a:srgbClr val="68E2CD"/>
          </a:solidFill>
          <a:ln w="6350">
            <a:solidFill>
              <a:srgbClr val="68E2CD"/>
            </a:solidFill>
          </a:ln>
        </p:spPr>
        <p:txBody>
          <a:bodyPr/>
          <a:p/>
        </p:txBody>
      </p:sp>
      <p:sp>
        <p:nvSpPr>
          <p:cNvPr id="22" name="Text 22"/>
          <p:cNvSpPr txBox="1"/>
          <p:nvPr/>
        </p:nvSpPr>
        <p:spPr>
          <a:xfrm>
            <a:off x="731520" y="32461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00" u="none" b="1">
                <a:solidFill>
                  <a:srgbClr val="68E2CD"/>
                </a:solidFill>
                <a:latin typeface="Aptos"/>
              </a:rPr>
              <a:t>LEADERSHIP CHANGE</a:t>
            </a:r>
            <a:endParaRPr lang="en-US"/>
          </a:p>
        </p:txBody>
      </p:sp>
      <p:sp>
        <p:nvSpPr>
          <p:cNvPr id="23" name="Text 23"/>
          <p:cNvSpPr txBox="1"/>
          <p:nvPr/>
        </p:nvSpPr>
        <p:spPr>
          <a:xfrm>
            <a:off x="731520" y="3675888"/>
            <a:ext cx="3200400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700" u="none">
                <a:solidFill>
                  <a:srgbClr val="FFFFFF"/>
                </a:solidFill>
                <a:latin typeface="Aptos"/>
                <a:hlinkClick r:id="link1"/>
              </a:rPr>
              <a:t>Target appointed Chandhu Nair as its first chief AI officer and SVP.</a:t>
            </a:r>
            <a:endParaRPr lang="en-US"/>
          </a:p>
        </p:txBody>
      </p:sp>
      <p:sp>
        <p:nvSpPr>
          <p:cNvPr id="24" name="Text 24"/>
          <p:cNvSpPr txBox="1"/>
          <p:nvPr/>
        </p:nvSpPr>
        <p:spPr>
          <a:xfrm>
            <a:off x="731520" y="4992624"/>
            <a:ext cx="310896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50" u="none" b="1">
                <a:solidFill>
                  <a:srgbClr val="20B8A6"/>
                </a:solidFill>
                <a:latin typeface="Aptos"/>
                <a:hlinkClick r:id="link2"/>
              </a:rPr>
              <a:t>Target · S004</a:t>
            </a:r>
            <a:endParaRPr lang="en-US"/>
          </a:p>
        </p:txBody>
      </p:sp>
      <p:sp>
        <p:nvSpPr>
          <p:cNvPr id="25" name="Card 25"/>
          <p:cNvSpPr/>
          <p:nvPr/>
        </p:nvSpPr>
        <p:spPr>
          <a:xfrm>
            <a:off x="4315968" y="3063240"/>
            <a:ext cx="3584448" cy="2249424"/>
          </a:xfrm>
          <a:prstGeom prst="roundRect">
            <a:avLst>
              <a:gd name="adj" fmla="val 8000"/>
            </a:avLst>
          </a:prstGeom>
          <a:solidFill>
            <a:srgbClr val="162A43"/>
          </a:solidFill>
          <a:ln w="6350">
            <a:solidFill>
              <a:srgbClr val="162A43"/>
            </a:solidFill>
          </a:ln>
        </p:spPr>
        <p:txBody>
          <a:bodyPr/>
          <a:p/>
        </p:txBody>
      </p:sp>
      <p:sp>
        <p:nvSpPr>
          <p:cNvPr id="26" name="Card 26"/>
          <p:cNvSpPr/>
          <p:nvPr/>
        </p:nvSpPr>
        <p:spPr>
          <a:xfrm>
            <a:off x="4315968" y="3063240"/>
            <a:ext cx="50292" cy="2249424"/>
          </a:xfrm>
          <a:prstGeom prst="rect">
            <a:avLst>
              <a:gd name="adj" fmla="val 8000"/>
            </a:avLst>
          </a:prstGeom>
          <a:solidFill>
            <a:srgbClr val="4B8FE8"/>
          </a:solidFill>
          <a:ln w="6350">
            <a:solidFill>
              <a:srgbClr val="4B8FE8"/>
            </a:solidFill>
          </a:ln>
        </p:spPr>
        <p:txBody>
          <a:bodyPr/>
          <a:p/>
        </p:txBody>
      </p:sp>
      <p:sp>
        <p:nvSpPr>
          <p:cNvPr id="27" name="Text 27"/>
          <p:cNvSpPr txBox="1"/>
          <p:nvPr/>
        </p:nvSpPr>
        <p:spPr>
          <a:xfrm>
            <a:off x="4498848" y="32461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00" u="none" b="1">
                <a:solidFill>
                  <a:srgbClr val="68E2CD"/>
                </a:solidFill>
                <a:latin typeface="Aptos"/>
              </a:rPr>
              <a:t>TECHNOLOGY MENTION</a:t>
            </a:r>
            <a:endParaRPr lang="en-US"/>
          </a:p>
        </p:txBody>
      </p:sp>
      <p:sp>
        <p:nvSpPr>
          <p:cNvPr id="28" name="Text 28"/>
          <p:cNvSpPr txBox="1"/>
          <p:nvPr/>
        </p:nvSpPr>
        <p:spPr>
          <a:xfrm>
            <a:off x="4498848" y="3675888"/>
            <a:ext cx="3200400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700" u="none">
                <a:solidFill>
                  <a:srgbClr val="FFFFFF"/>
                </a:solidFill>
                <a:latin typeface="Aptos"/>
                <a:hlinkClick r:id="link3"/>
              </a:rPr>
              <a:t>Target is strengthening its AI and UX capabilities.</a:t>
            </a:r>
            <a:endParaRPr lang="en-US"/>
          </a:p>
        </p:txBody>
      </p:sp>
      <p:sp>
        <p:nvSpPr>
          <p:cNvPr id="29" name="Text 29"/>
          <p:cNvSpPr txBox="1"/>
          <p:nvPr/>
        </p:nvSpPr>
        <p:spPr>
          <a:xfrm>
            <a:off x="4498848" y="4992624"/>
            <a:ext cx="310896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50" u="none" b="1">
                <a:solidFill>
                  <a:srgbClr val="20B8A6"/>
                </a:solidFill>
                <a:latin typeface="Aptos"/>
                <a:hlinkClick r:id="link4"/>
              </a:rPr>
              <a:t>Target · S003</a:t>
            </a:r>
            <a:endParaRPr lang="en-US"/>
          </a:p>
        </p:txBody>
      </p:sp>
      <p:sp>
        <p:nvSpPr>
          <p:cNvPr id="30" name="Card 30"/>
          <p:cNvSpPr/>
          <p:nvPr/>
        </p:nvSpPr>
        <p:spPr>
          <a:xfrm>
            <a:off x="8083296" y="3063240"/>
            <a:ext cx="3584448" cy="2249424"/>
          </a:xfrm>
          <a:prstGeom prst="roundRect">
            <a:avLst>
              <a:gd name="adj" fmla="val 8000"/>
            </a:avLst>
          </a:prstGeom>
          <a:solidFill>
            <a:srgbClr val="162A43"/>
          </a:solidFill>
          <a:ln w="6350">
            <a:solidFill>
              <a:srgbClr val="162A43"/>
            </a:solidFill>
          </a:ln>
        </p:spPr>
        <p:txBody>
          <a:bodyPr/>
          <a:p/>
        </p:txBody>
      </p:sp>
      <p:sp>
        <p:nvSpPr>
          <p:cNvPr id="31" name="Card 31"/>
          <p:cNvSpPr/>
          <p:nvPr/>
        </p:nvSpPr>
        <p:spPr>
          <a:xfrm>
            <a:off x="8083296" y="3063240"/>
            <a:ext cx="50292" cy="2249424"/>
          </a:xfrm>
          <a:prstGeom prst="rect">
            <a:avLst>
              <a:gd name="adj" fmla="val 8000"/>
            </a:avLst>
          </a:prstGeom>
          <a:solidFill>
            <a:srgbClr val="8EADD2"/>
          </a:solidFill>
          <a:ln w="6350">
            <a:solidFill>
              <a:srgbClr val="8EADD2"/>
            </a:solidFill>
          </a:ln>
        </p:spPr>
        <p:txBody>
          <a:bodyPr/>
          <a:p/>
        </p:txBody>
      </p:sp>
      <p:sp>
        <p:nvSpPr>
          <p:cNvPr id="32" name="Text 32"/>
          <p:cNvSpPr txBox="1"/>
          <p:nvPr/>
        </p:nvSpPr>
        <p:spPr>
          <a:xfrm>
            <a:off x="8266176" y="32461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00" u="none" b="1">
                <a:solidFill>
                  <a:srgbClr val="68E2CD"/>
                </a:solidFill>
                <a:latin typeface="Aptos"/>
              </a:rPr>
              <a:t>EVIDENCE QUALITY</a:t>
            </a:r>
            <a:endParaRPr lang="en-US"/>
          </a:p>
        </p:txBody>
      </p:sp>
      <p:sp>
        <p:nvSpPr>
          <p:cNvPr id="33" name="Text 33"/>
          <p:cNvSpPr txBox="1"/>
          <p:nvPr/>
        </p:nvSpPr>
        <p:spPr>
          <a:xfrm>
            <a:off x="8266176" y="3675888"/>
            <a:ext cx="3200400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700" u="none">
                <a:solidFill>
                  <a:srgbClr val="FFFFFF"/>
                </a:solidFill>
                <a:latin typeface="Aptos"/>
              </a:rPr>
              <a:t>Search snippets are preliminary. Original-source verification is required before treating findings as confirmed.</a:t>
            </a:r>
            <a:endParaRPr lang="en-US"/>
          </a:p>
        </p:txBody>
      </p:sp>
      <p:sp>
        <p:nvSpPr>
          <p:cNvPr id="34" name="Text 34"/>
          <p:cNvSpPr txBox="1"/>
          <p:nvPr/>
        </p:nvSpPr>
        <p:spPr>
          <a:xfrm>
            <a:off x="594360" y="57150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00" u="none">
                <a:solidFill>
                  <a:srgbClr val="B8C9DB"/>
                </a:solidFill>
                <a:latin typeface="Aptos"/>
              </a:rPr>
              <a:t>Preliminary evidence • Selected highlights shown; complete research retained in memory.</a:t>
            </a:r>
            <a:endParaRPr lang="en-US"/>
          </a:p>
        </p:txBody>
      </p:sp>
      <p:sp>
        <p:nvSpPr>
          <p:cNvPr id="35" name="Card 35"/>
          <p:cNvSpPr/>
          <p:nvPr/>
        </p:nvSpPr>
        <p:spPr>
          <a:xfrm>
            <a:off x="548640" y="6419088"/>
            <a:ext cx="11064240" cy="10973"/>
          </a:xfrm>
          <a:prstGeom prst="rect">
            <a:avLst>
              <a:gd name="adj" fmla="val 8000"/>
            </a:avLst>
          </a:prstGeom>
          <a:solidFill>
            <a:srgbClr val="36506C"/>
          </a:solidFill>
          <a:ln w="6350">
            <a:solidFill>
              <a:srgbClr val="36506C"/>
            </a:solidFill>
          </a:ln>
        </p:spPr>
        <p:txBody>
          <a:bodyPr/>
          <a:p/>
        </p:txBody>
      </p:sp>
      <p:sp>
        <p:nvSpPr>
          <p:cNvPr id="36" name="Text 36"/>
          <p:cNvSpPr txBox="1"/>
          <p:nvPr/>
        </p:nvSpPr>
        <p:spPr>
          <a:xfrm>
            <a:off x="566928" y="6519672"/>
            <a:ext cx="10607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830" u="none">
                <a:solidFill>
                  <a:srgbClr val="A7BBD2"/>
                </a:solidFill>
                <a:latin typeface="Aptos"/>
              </a:rPr>
              <a:t>Selected highlights · complete research retained in memory · research-196</a:t>
            </a:r>
            <a:endParaRPr lang="en-US"/>
          </a:p>
        </p:txBody>
      </p:sp>
      <p:sp>
        <p:nvSpPr>
          <p:cNvPr id="37" name="Text 37"/>
          <p:cNvSpPr txBox="1"/>
          <p:nvPr/>
        </p:nvSpPr>
        <p:spPr>
          <a:xfrm>
            <a:off x="11247120" y="64922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00" u="none" b="1">
                <a:solidFill>
                  <a:srgbClr val="A7BBD2"/>
                </a:solidFill>
                <a:latin typeface="Aptos"/>
              </a:rPr>
              <a:t>1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1695" cy="1435608"/>
          </a:xfrm>
          <a:prstGeom prst="rect">
            <a:avLst>
              <a:gd name="adj" fmla="val 8000"/>
            </a:avLst>
          </a:prstGeom>
          <a:solidFill>
            <a:srgbClr val="0D1B2E"/>
          </a:solidFill>
          <a:ln w="6350">
            <a:solidFill>
              <a:srgbClr val="0D1B2E"/>
            </a:solidFill>
          </a:ln>
        </p:spPr>
      </p:sp>
      <p:sp>
        <p:nvSpPr>
          <p:cNvPr id="3" name="Card 3"/>
          <p:cNvSpPr/>
          <p:nvPr/>
        </p:nvSpPr>
        <p:spPr>
          <a:xfrm>
            <a:off x="548640" y="301752"/>
            <a:ext cx="384048" cy="50292"/>
          </a:xfrm>
          <a:prstGeom prst="rect">
            <a:avLst>
              <a:gd name="adj" fmla="val 8000"/>
            </a:avLst>
          </a:prstGeom>
          <a:solidFill>
            <a:srgbClr val="68E2CD"/>
          </a:solidFill>
          <a:ln w="6350">
            <a:solidFill>
              <a:srgbClr val="68E2CD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1024128" y="228600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40" u="none" b="1">
                <a:solidFill>
                  <a:srgbClr val="A7BBD2"/>
                </a:solidFill>
                <a:latin typeface="Aptos"/>
              </a:rPr>
              <a:t>PUBLIC-SOURCE RESEARCH  /  TARGET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548640" y="603504"/>
            <a:ext cx="11018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2700" u="none" b="1">
                <a:solidFill>
                  <a:srgbClr val="FFFFFF"/>
                </a:solidFill>
                <a:latin typeface="Aptos"/>
              </a:rPr>
              <a:t>Peer landscape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566928" y="1133856"/>
            <a:ext cx="10972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50" u="none">
                <a:solidFill>
                  <a:srgbClr val="B8C9DB"/>
                </a:solidFill>
                <a:latin typeface="Aptos"/>
              </a:rPr>
              <a:t>Relative annual revenue and observed signal counts · counts do not measure security risk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594360" y="16459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50" u="none" b="1">
                <a:solidFill>
                  <a:srgbClr val="60748B"/>
                </a:solidFill>
                <a:latin typeface="Aptos"/>
              </a:rPr>
              <a:t>COMPANY</a:t>
            </a:r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2852928" y="16459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50" u="none" b="1">
                <a:solidFill>
                  <a:srgbClr val="60748B"/>
                </a:solidFill>
                <a:latin typeface="Aptos"/>
              </a:rPr>
              <a:t>REVENUE SCALE · TARGET = 1.00×</a:t>
            </a:r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6583680" y="164592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80" u="none" b="1">
                <a:solidFill>
                  <a:srgbClr val="60748B"/>
                </a:solidFill>
                <a:latin typeface="Aptos"/>
              </a:rPr>
              <a:t>Leadership</a:t>
            </a:r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7772400" y="164592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80" u="none" b="1">
                <a:solidFill>
                  <a:srgbClr val="60748B"/>
                </a:solidFill>
                <a:latin typeface="Aptos"/>
              </a:rPr>
              <a:t>Contracts</a:t>
            </a:r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8961120" y="164592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80" u="none" b="1">
                <a:solidFill>
                  <a:srgbClr val="60748B"/>
                </a:solidFill>
                <a:latin typeface="Aptos"/>
              </a:rPr>
              <a:t>Cyber news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10149840" y="164592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80" u="none" b="1">
                <a:solidFill>
                  <a:srgbClr val="60748B"/>
                </a:solidFill>
                <a:latin typeface="Aptos"/>
              </a:rPr>
              <a:t>Technology</a:t>
            </a:r>
            <a:endParaRPr lang="en-US"/>
          </a:p>
        </p:txBody>
      </p:sp>
      <p:sp>
        <p:nvSpPr>
          <p:cNvPr id="13" name="Card 13"/>
          <p:cNvSpPr/>
          <p:nvPr/>
        </p:nvSpPr>
        <p:spPr>
          <a:xfrm>
            <a:off x="548640" y="2075688"/>
            <a:ext cx="11064240" cy="539496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6350">
            <a:solidFill>
              <a:srgbClr val="E8EEF5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685800" y="214884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300" u="none" b="1">
                <a:solidFill>
                  <a:srgbClr val="152B43"/>
                </a:solidFill>
                <a:latin typeface="Aptos"/>
              </a:rPr>
              <a:t>Target</a:t>
            </a:r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685800" y="2414016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860" u="none">
                <a:solidFill>
                  <a:srgbClr val="60748B"/>
                </a:solidFill>
                <a:latin typeface="Aptos"/>
              </a:rPr>
              <a:t>104,780 USD millions · FY 2025</a:t>
            </a:r>
            <a:endParaRPr lang="en-US"/>
          </a:p>
        </p:txBody>
      </p:sp>
      <p:sp>
        <p:nvSpPr>
          <p:cNvPr id="16" name="Card 16"/>
          <p:cNvSpPr/>
          <p:nvPr/>
        </p:nvSpPr>
        <p:spPr>
          <a:xfrm>
            <a:off x="2880360" y="2167128"/>
            <a:ext cx="2971800" cy="173736"/>
          </a:xfrm>
          <a:prstGeom prst="roundRect">
            <a:avLst>
              <a:gd name="adj" fmla="val 8000"/>
            </a:avLst>
          </a:prstGeom>
          <a:solidFill>
            <a:srgbClr val="D9E4EF"/>
          </a:solidFill>
          <a:ln w="6350">
            <a:solidFill>
              <a:srgbClr val="D9E4EF"/>
            </a:solidFill>
          </a:ln>
        </p:spPr>
      </p:sp>
      <p:sp>
        <p:nvSpPr>
          <p:cNvPr id="17" name="Card 17"/>
          <p:cNvSpPr/>
          <p:nvPr/>
        </p:nvSpPr>
        <p:spPr>
          <a:xfrm>
            <a:off x="2880360" y="2167128"/>
            <a:ext cx="2109656" cy="173736"/>
          </a:xfrm>
          <a:prstGeom prst="roundRect">
            <a:avLst>
              <a:gd name="adj" fmla="val 8000"/>
            </a:avLst>
          </a:prstGeom>
          <a:solidFill>
            <a:srgbClr val="20B8A6"/>
          </a:solidFill>
          <a:ln w="6350">
            <a:solidFill>
              <a:srgbClr val="20B8A6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5925312" y="213055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 b="1">
                <a:solidFill>
                  <a:srgbClr val="152B43"/>
                </a:solidFill>
                <a:latin typeface="Aptos"/>
              </a:rPr>
              <a:t>1.00×</a:t>
            </a:r>
            <a:endParaRPr lang="en-US"/>
          </a:p>
        </p:txBody>
      </p:sp>
      <p:sp>
        <p:nvSpPr>
          <p:cNvPr id="19" name="Card 19"/>
          <p:cNvSpPr/>
          <p:nvPr/>
        </p:nvSpPr>
        <p:spPr>
          <a:xfrm>
            <a:off x="6812280" y="2144268"/>
            <a:ext cx="429768" cy="301752"/>
          </a:xfrm>
          <a:prstGeom prst="roundRect">
            <a:avLst>
              <a:gd name="adj" fmla="val 8000"/>
            </a:avLst>
          </a:prstGeom>
          <a:solidFill>
            <a:srgbClr val="E8F7F3"/>
          </a:solidFill>
          <a:ln w="6350">
            <a:solidFill>
              <a:srgbClr val="E8F7F3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6931152" y="2180844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00" u="none" b="1">
                <a:solidFill>
                  <a:srgbClr val="16786D"/>
                </a:solidFill>
                <a:latin typeface="Aptos"/>
              </a:rPr>
              <a:t>1</a:t>
            </a:r>
            <a:endParaRPr lang="en-US"/>
          </a:p>
        </p:txBody>
      </p:sp>
      <p:sp>
        <p:nvSpPr>
          <p:cNvPr id="21" name="Card 21"/>
          <p:cNvSpPr/>
          <p:nvPr/>
        </p:nvSpPr>
        <p:spPr>
          <a:xfrm>
            <a:off x="8001000" y="2144268"/>
            <a:ext cx="429768" cy="301752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6350">
            <a:solidFill>
              <a:srgbClr val="F2F5F9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8119872" y="2180844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00" u="none" b="1">
                <a:solidFill>
                  <a:srgbClr val="60748B"/>
                </a:solidFill>
                <a:latin typeface="Aptos"/>
              </a:rPr>
              <a:t>0</a:t>
            </a:r>
            <a:endParaRPr lang="en-US"/>
          </a:p>
        </p:txBody>
      </p:sp>
      <p:sp>
        <p:nvSpPr>
          <p:cNvPr id="23" name="Card 23"/>
          <p:cNvSpPr/>
          <p:nvPr/>
        </p:nvSpPr>
        <p:spPr>
          <a:xfrm>
            <a:off x="9189720" y="2144268"/>
            <a:ext cx="429768" cy="301752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6350">
            <a:solidFill>
              <a:srgbClr val="F2F5F9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9308592" y="2180844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00" u="none" b="1">
                <a:solidFill>
                  <a:srgbClr val="60748B"/>
                </a:solidFill>
                <a:latin typeface="Aptos"/>
              </a:rPr>
              <a:t>0</a:t>
            </a:r>
            <a:endParaRPr lang="en-US"/>
          </a:p>
        </p:txBody>
      </p:sp>
      <p:sp>
        <p:nvSpPr>
          <p:cNvPr id="25" name="Card 25"/>
          <p:cNvSpPr/>
          <p:nvPr/>
        </p:nvSpPr>
        <p:spPr>
          <a:xfrm>
            <a:off x="10378440" y="2144268"/>
            <a:ext cx="429768" cy="301752"/>
          </a:xfrm>
          <a:prstGeom prst="roundRect">
            <a:avLst>
              <a:gd name="adj" fmla="val 8000"/>
            </a:avLst>
          </a:prstGeom>
          <a:solidFill>
            <a:srgbClr val="E8F7F3"/>
          </a:solidFill>
          <a:ln w="6350">
            <a:solidFill>
              <a:srgbClr val="E8F7F3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10497312" y="2180844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00" u="none" b="1">
                <a:solidFill>
                  <a:srgbClr val="16786D"/>
                </a:solidFill>
                <a:latin typeface="Aptos"/>
              </a:rPr>
              <a:t>1</a:t>
            </a:r>
            <a:endParaRPr lang="en-US"/>
          </a:p>
        </p:txBody>
      </p:sp>
      <p:sp>
        <p:nvSpPr>
          <p:cNvPr id="27" name="Card 27"/>
          <p:cNvSpPr/>
          <p:nvPr/>
        </p:nvSpPr>
        <p:spPr>
          <a:xfrm>
            <a:off x="548640" y="2660904"/>
            <a:ext cx="11064240" cy="5394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FFFFFF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685800" y="273405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300" u="none" b="1">
                <a:solidFill>
                  <a:srgbClr val="152B43"/>
                </a:solidFill>
                <a:latin typeface="Aptos"/>
              </a:rPr>
              <a:t>Kroger</a:t>
            </a:r>
            <a:endParaRPr lang="en-US"/>
          </a:p>
        </p:txBody>
      </p:sp>
      <p:sp>
        <p:nvSpPr>
          <p:cNvPr id="29" name="Text 29"/>
          <p:cNvSpPr txBox="1"/>
          <p:nvPr/>
        </p:nvSpPr>
        <p:spPr>
          <a:xfrm>
            <a:off x="685800" y="299923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860" u="none">
                <a:solidFill>
                  <a:srgbClr val="60748B"/>
                </a:solidFill>
                <a:latin typeface="Aptos"/>
                <a:hlinkClick r:id="link1"/>
              </a:rPr>
              <a:t>147.6 USD billions · FY 2025</a:t>
            </a:r>
            <a:endParaRPr lang="en-US"/>
          </a:p>
        </p:txBody>
      </p:sp>
      <p:sp>
        <p:nvSpPr>
          <p:cNvPr id="30" name="Card 30"/>
          <p:cNvSpPr/>
          <p:nvPr/>
        </p:nvSpPr>
        <p:spPr>
          <a:xfrm>
            <a:off x="2880360" y="2752344"/>
            <a:ext cx="2971800" cy="173736"/>
          </a:xfrm>
          <a:prstGeom prst="roundRect">
            <a:avLst>
              <a:gd name="adj" fmla="val 8000"/>
            </a:avLst>
          </a:prstGeom>
          <a:solidFill>
            <a:srgbClr val="D9E4EF"/>
          </a:solidFill>
          <a:ln w="6350">
            <a:solidFill>
              <a:srgbClr val="D9E4EF"/>
            </a:solidFill>
          </a:ln>
        </p:spPr>
      </p:sp>
      <p:sp>
        <p:nvSpPr>
          <p:cNvPr id="31" name="Card 31"/>
          <p:cNvSpPr/>
          <p:nvPr/>
        </p:nvSpPr>
        <p:spPr>
          <a:xfrm>
            <a:off x="2880360" y="2752344"/>
            <a:ext cx="2971800" cy="173736"/>
          </a:xfrm>
          <a:prstGeom prst="roundRect">
            <a:avLst>
              <a:gd name="adj" fmla="val 8000"/>
            </a:avLst>
          </a:prstGeom>
          <a:solidFill>
            <a:srgbClr val="4B8FE8"/>
          </a:solidFill>
          <a:ln w="6350">
            <a:solidFill>
              <a:srgbClr val="4B8FE8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5925312" y="271576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 b="1">
                <a:solidFill>
                  <a:srgbClr val="152B43"/>
                </a:solidFill>
                <a:latin typeface="Aptos"/>
              </a:rPr>
              <a:t>1.41×</a:t>
            </a:r>
            <a:endParaRPr lang="en-US"/>
          </a:p>
        </p:txBody>
      </p:sp>
      <p:sp>
        <p:nvSpPr>
          <p:cNvPr id="33" name="Card 33"/>
          <p:cNvSpPr/>
          <p:nvPr/>
        </p:nvSpPr>
        <p:spPr>
          <a:xfrm>
            <a:off x="6812280" y="2729484"/>
            <a:ext cx="429768" cy="301752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6350">
            <a:solidFill>
              <a:srgbClr val="F2F5F9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6931152" y="2766060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00" u="none" b="1">
                <a:solidFill>
                  <a:srgbClr val="60748B"/>
                </a:solidFill>
                <a:latin typeface="Aptos"/>
              </a:rPr>
              <a:t>0</a:t>
            </a:r>
            <a:endParaRPr lang="en-US"/>
          </a:p>
        </p:txBody>
      </p:sp>
      <p:sp>
        <p:nvSpPr>
          <p:cNvPr id="35" name="Card 35"/>
          <p:cNvSpPr/>
          <p:nvPr/>
        </p:nvSpPr>
        <p:spPr>
          <a:xfrm>
            <a:off x="8001000" y="2729484"/>
            <a:ext cx="429768" cy="301752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6350">
            <a:solidFill>
              <a:srgbClr val="F2F5F9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8119872" y="2766060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00" u="none" b="1">
                <a:solidFill>
                  <a:srgbClr val="60748B"/>
                </a:solidFill>
                <a:latin typeface="Aptos"/>
              </a:rPr>
              <a:t>0</a:t>
            </a:r>
            <a:endParaRPr lang="en-US"/>
          </a:p>
        </p:txBody>
      </p:sp>
      <p:sp>
        <p:nvSpPr>
          <p:cNvPr id="37" name="Card 37"/>
          <p:cNvSpPr/>
          <p:nvPr/>
        </p:nvSpPr>
        <p:spPr>
          <a:xfrm>
            <a:off x="9189720" y="2729484"/>
            <a:ext cx="429768" cy="301752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6350">
            <a:solidFill>
              <a:srgbClr val="F2F5F9"/>
            </a:solidFill>
          </a:ln>
        </p:spPr>
      </p:sp>
      <p:sp>
        <p:nvSpPr>
          <p:cNvPr id="38" name="Text 38"/>
          <p:cNvSpPr txBox="1"/>
          <p:nvPr/>
        </p:nvSpPr>
        <p:spPr>
          <a:xfrm>
            <a:off x="9308592" y="2766060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00" u="none" b="1">
                <a:solidFill>
                  <a:srgbClr val="60748B"/>
                </a:solidFill>
                <a:latin typeface="Aptos"/>
              </a:rPr>
              <a:t>0</a:t>
            </a:r>
            <a:endParaRPr lang="en-US"/>
          </a:p>
        </p:txBody>
      </p:sp>
      <p:sp>
        <p:nvSpPr>
          <p:cNvPr id="39" name="Card 39"/>
          <p:cNvSpPr/>
          <p:nvPr/>
        </p:nvSpPr>
        <p:spPr>
          <a:xfrm>
            <a:off x="10378440" y="2729484"/>
            <a:ext cx="429768" cy="301752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6350">
            <a:solidFill>
              <a:srgbClr val="F2F5F9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10497312" y="2766060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00" u="none" b="1">
                <a:solidFill>
                  <a:srgbClr val="60748B"/>
                </a:solidFill>
                <a:latin typeface="Aptos"/>
              </a:rPr>
              <a:t>0</a:t>
            </a:r>
            <a:endParaRPr lang="en-US"/>
          </a:p>
        </p:txBody>
      </p:sp>
      <p:sp>
        <p:nvSpPr>
          <p:cNvPr id="41" name="Text 41"/>
          <p:cNvSpPr txBox="1"/>
          <p:nvPr/>
        </p:nvSpPr>
        <p:spPr>
          <a:xfrm>
            <a:off x="640080" y="5879592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>
                <a:solidFill>
                  <a:srgbClr val="60748B"/>
                </a:solidFill>
                <a:latin typeface="Aptos"/>
              </a:rPr>
              <a:t>Peers 1/5 · Retail formats may differ. Revenue evidence: automated checks; original-source verification pending.  Sector: Retail — general merchandise and consumer retail</a:t>
            </a:r>
            <a:endParaRPr lang="en-US"/>
          </a:p>
        </p:txBody>
      </p:sp>
      <p:sp>
        <p:nvSpPr>
          <p:cNvPr id="42" name="Card 42"/>
          <p:cNvSpPr/>
          <p:nvPr/>
        </p:nvSpPr>
        <p:spPr>
          <a:xfrm>
            <a:off x="548640" y="6419088"/>
            <a:ext cx="11064240" cy="10973"/>
          </a:xfrm>
          <a:prstGeom prst="rect">
            <a:avLst>
              <a:gd name="adj" fmla="val 8000"/>
            </a:avLst>
          </a:prstGeom>
          <a:solidFill>
            <a:srgbClr val="DCE5EF"/>
          </a:solidFill>
          <a:ln w="6350">
            <a:solidFill>
              <a:srgbClr val="DCE5EF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566928" y="6519672"/>
            <a:ext cx="10607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830" u="none">
                <a:solidFill>
                  <a:srgbClr val="60748B"/>
                </a:solidFill>
                <a:latin typeface="Aptos"/>
              </a:rPr>
              <a:t>Selected highlights · complete research retained in memory · research-196</a:t>
            </a:r>
            <a:endParaRPr lang="en-US"/>
          </a:p>
        </p:txBody>
      </p:sp>
      <p:sp>
        <p:nvSpPr>
          <p:cNvPr id="44" name="Text 44"/>
          <p:cNvSpPr txBox="1"/>
          <p:nvPr/>
        </p:nvSpPr>
        <p:spPr>
          <a:xfrm>
            <a:off x="11247120" y="64922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00" u="none" b="1">
                <a:solidFill>
                  <a:srgbClr val="60748B"/>
                </a:solidFill>
                <a:latin typeface="Aptos"/>
              </a:rPr>
              <a:t>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1695" cy="1435608"/>
          </a:xfrm>
          <a:prstGeom prst="rect">
            <a:avLst>
              <a:gd name="adj" fmla="val 8000"/>
            </a:avLst>
          </a:prstGeom>
          <a:solidFill>
            <a:srgbClr val="0D1B2E"/>
          </a:solidFill>
          <a:ln w="6350">
            <a:solidFill>
              <a:srgbClr val="0D1B2E"/>
            </a:solidFill>
          </a:ln>
        </p:spPr>
      </p:sp>
      <p:sp>
        <p:nvSpPr>
          <p:cNvPr id="3" name="Card 3"/>
          <p:cNvSpPr/>
          <p:nvPr/>
        </p:nvSpPr>
        <p:spPr>
          <a:xfrm>
            <a:off x="548640" y="301752"/>
            <a:ext cx="384048" cy="50292"/>
          </a:xfrm>
          <a:prstGeom prst="rect">
            <a:avLst>
              <a:gd name="adj" fmla="val 8000"/>
            </a:avLst>
          </a:prstGeom>
          <a:solidFill>
            <a:srgbClr val="68E2CD"/>
          </a:solidFill>
          <a:ln w="6350">
            <a:solidFill>
              <a:srgbClr val="68E2CD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1024128" y="228600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40" u="none" b="1">
                <a:solidFill>
                  <a:srgbClr val="A7BBD2"/>
                </a:solidFill>
                <a:latin typeface="Aptos"/>
              </a:rPr>
              <a:t>PUBLIC-SOURCE RESEARCH  /  TARGET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548640" y="603504"/>
            <a:ext cx="11018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2700" u="none" b="1">
                <a:solidFill>
                  <a:srgbClr val="FFFFFF"/>
                </a:solidFill>
                <a:latin typeface="Aptos"/>
              </a:rPr>
              <a:t>Company snapshots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566928" y="1133856"/>
            <a:ext cx="10972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50" u="none">
                <a:solidFill>
                  <a:srgbClr val="B8C9DB"/>
                </a:solidFill>
                <a:latin typeface="Aptos"/>
              </a:rPr>
              <a:t>Selected signals + public leadership background · all snippet-based findings require source verification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594360" y="1581912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2100" u="none" b="1">
                <a:solidFill>
                  <a:srgbClr val="152B43"/>
                </a:solidFill>
                <a:latin typeface="Aptos"/>
              </a:rPr>
              <a:t>Target</a:t>
            </a:r>
            <a:endParaRPr lang="en-US"/>
          </a:p>
        </p:txBody>
      </p:sp>
      <p:sp>
        <p:nvSpPr>
          <p:cNvPr id="8" name="Card 8"/>
          <p:cNvSpPr/>
          <p:nvPr/>
        </p:nvSpPr>
        <p:spPr>
          <a:xfrm>
            <a:off x="594360" y="2048256"/>
            <a:ext cx="5303520" cy="758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E5EF"/>
            </a:solidFill>
          </a:ln>
        </p:spPr>
      </p:sp>
      <p:sp>
        <p:nvSpPr>
          <p:cNvPr id="9" name="Card 9"/>
          <p:cNvSpPr/>
          <p:nvPr/>
        </p:nvSpPr>
        <p:spPr>
          <a:xfrm>
            <a:off x="594360" y="2048256"/>
            <a:ext cx="41148" cy="758952"/>
          </a:xfrm>
          <a:prstGeom prst="rect">
            <a:avLst>
              <a:gd name="adj" fmla="val 8000"/>
            </a:avLst>
          </a:prstGeom>
          <a:solidFill>
            <a:srgbClr val="20B8A6"/>
          </a:solidFill>
          <a:ln w="6350">
            <a:solidFill>
              <a:srgbClr val="20B8A6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740664" y="2139696"/>
            <a:ext cx="3474720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70" u="none" b="1">
                <a:solidFill>
                  <a:srgbClr val="20B8A6"/>
                </a:solidFill>
                <a:latin typeface="Aptos"/>
                <a:hlinkClick r:id="link1"/>
              </a:rPr>
              <a:t>LEADERSHIP CHANGE · S004</a:t>
            </a:r>
            <a:endParaRPr lang="en-US"/>
          </a:p>
        </p:txBody>
      </p:sp>
      <p:sp>
        <p:nvSpPr>
          <p:cNvPr id="11" name="Card 11"/>
          <p:cNvSpPr/>
          <p:nvPr/>
        </p:nvSpPr>
        <p:spPr>
          <a:xfrm>
            <a:off x="4325112" y="2121408"/>
            <a:ext cx="1417320" cy="228600"/>
          </a:xfrm>
          <a:prstGeom prst="roundRect">
            <a:avLst>
              <a:gd name="adj" fmla="val 8000"/>
            </a:avLst>
          </a:prstGeom>
          <a:solidFill>
            <a:srgbClr val="E8F7F3"/>
          </a:solidFill>
          <a:ln w="6350">
            <a:solidFill>
              <a:srgbClr val="E8F7F3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4398264" y="2153412"/>
            <a:ext cx="1271016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40" u="none" b="1">
                <a:solidFill>
                  <a:srgbClr val="16786D"/>
                </a:solidFill>
                <a:latin typeface="Aptos"/>
              </a:rPr>
              <a:t>appointed</a:t>
            </a:r>
            <a:endParaRPr lang="en-US"/>
          </a:p>
        </p:txBody>
      </p:sp>
      <p:sp>
        <p:nvSpPr>
          <p:cNvPr id="13" name="Text 13"/>
          <p:cNvSpPr txBox="1"/>
          <p:nvPr/>
        </p:nvSpPr>
        <p:spPr>
          <a:xfrm>
            <a:off x="740664" y="2368296"/>
            <a:ext cx="501091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310" u="none">
                <a:solidFill>
                  <a:srgbClr val="152B43"/>
                </a:solidFill>
                <a:latin typeface="Aptos"/>
                <a:hlinkClick r:id="link2"/>
              </a:rPr>
              <a:t>Target appointed Chandhu Nair as its first chief AI officer and SVP.</a:t>
            </a:r>
            <a:endParaRPr lang="en-US"/>
          </a:p>
        </p:txBody>
      </p:sp>
      <p:sp>
        <p:nvSpPr>
          <p:cNvPr id="14" name="Card 14"/>
          <p:cNvSpPr/>
          <p:nvPr/>
        </p:nvSpPr>
        <p:spPr>
          <a:xfrm>
            <a:off x="594360" y="2898648"/>
            <a:ext cx="5303520" cy="758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E5EF"/>
            </a:solidFill>
          </a:ln>
        </p:spPr>
      </p:sp>
      <p:sp>
        <p:nvSpPr>
          <p:cNvPr id="15" name="Card 15"/>
          <p:cNvSpPr/>
          <p:nvPr/>
        </p:nvSpPr>
        <p:spPr>
          <a:xfrm>
            <a:off x="594360" y="2898648"/>
            <a:ext cx="41148" cy="758952"/>
          </a:xfrm>
          <a:prstGeom prst="rect">
            <a:avLst>
              <a:gd name="adj" fmla="val 8000"/>
            </a:avLst>
          </a:prstGeom>
          <a:solidFill>
            <a:srgbClr val="20B8A6"/>
          </a:solidFill>
          <a:ln w="6350">
            <a:solidFill>
              <a:srgbClr val="20B8A6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740664" y="2990088"/>
            <a:ext cx="3474720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70" u="none" b="1">
                <a:solidFill>
                  <a:srgbClr val="20B8A6"/>
                </a:solidFill>
                <a:latin typeface="Aptos"/>
                <a:hlinkClick r:id="link3"/>
              </a:rPr>
              <a:t>TECHNOLOGY MENTION · S003</a:t>
            </a:r>
            <a:endParaRPr lang="en-US"/>
          </a:p>
        </p:txBody>
      </p:sp>
      <p:sp>
        <p:nvSpPr>
          <p:cNvPr id="17" name="Card 17"/>
          <p:cNvSpPr/>
          <p:nvPr/>
        </p:nvSpPr>
        <p:spPr>
          <a:xfrm>
            <a:off x="4325112" y="2971800"/>
            <a:ext cx="1417320" cy="228600"/>
          </a:xfrm>
          <a:prstGeom prst="roundRect">
            <a:avLst>
              <a:gd name="adj" fmla="val 8000"/>
            </a:avLst>
          </a:prstGeom>
          <a:solidFill>
            <a:srgbClr val="E8F7F3"/>
          </a:solidFill>
          <a:ln w="6350">
            <a:solidFill>
              <a:srgbClr val="E8F7F3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4398264" y="3003804"/>
            <a:ext cx="1271016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40" u="none" b="1">
                <a:solidFill>
                  <a:srgbClr val="16786D"/>
                </a:solidFill>
                <a:latin typeface="Aptos"/>
              </a:rPr>
              <a:t>announced</a:t>
            </a:r>
            <a:endParaRPr lang="en-US"/>
          </a:p>
        </p:txBody>
      </p:sp>
      <p:sp>
        <p:nvSpPr>
          <p:cNvPr id="19" name="Text 19"/>
          <p:cNvSpPr txBox="1"/>
          <p:nvPr/>
        </p:nvSpPr>
        <p:spPr>
          <a:xfrm>
            <a:off x="740664" y="3218688"/>
            <a:ext cx="501091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310" u="none">
                <a:solidFill>
                  <a:srgbClr val="152B43"/>
                </a:solidFill>
                <a:latin typeface="Aptos"/>
                <a:hlinkClick r:id="link4"/>
              </a:rPr>
              <a:t>Target is strengthening its AI and UX capabilities.</a:t>
            </a:r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594360" y="4599432"/>
            <a:ext cx="530352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50" u="none" b="1">
                <a:solidFill>
                  <a:srgbClr val="60748B"/>
                </a:solidFill>
                <a:latin typeface="Aptos"/>
              </a:rPr>
              <a:t>LEADERSHIP · PUBLIC SOURCE CANDIDATES</a:t>
            </a:r>
            <a:endParaRPr lang="en-US"/>
          </a:p>
        </p:txBody>
      </p:sp>
      <p:sp>
        <p:nvSpPr>
          <p:cNvPr id="21" name="Card 21"/>
          <p:cNvSpPr/>
          <p:nvPr/>
        </p:nvSpPr>
        <p:spPr>
          <a:xfrm>
            <a:off x="594360" y="4873752"/>
            <a:ext cx="2596896" cy="393192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6350">
            <a:solidFill>
              <a:srgbClr val="F2F5F9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667512" y="4946904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80" u="none">
                <a:solidFill>
                  <a:srgbClr val="152B43"/>
                </a:solidFill>
                <a:latin typeface="Aptos"/>
              </a:rPr>
              <a:t>CEO · Michael Fiddelke</a:t>
            </a:r>
            <a:endParaRPr lang="en-US"/>
          </a:p>
        </p:txBody>
      </p:sp>
      <p:sp>
        <p:nvSpPr>
          <p:cNvPr id="23" name="Card 23"/>
          <p:cNvSpPr/>
          <p:nvPr/>
        </p:nvSpPr>
        <p:spPr>
          <a:xfrm>
            <a:off x="3300984" y="4873752"/>
            <a:ext cx="2596896" cy="393192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6350">
            <a:solidFill>
              <a:srgbClr val="F2F5F9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3374136" y="4946904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80" u="none">
                <a:solidFill>
                  <a:srgbClr val="152B43"/>
                </a:solidFill>
                <a:latin typeface="Aptos"/>
              </a:rPr>
              <a:t>CISO · Conflicting sources</a:t>
            </a:r>
            <a:endParaRPr lang="en-US"/>
          </a:p>
        </p:txBody>
      </p:sp>
      <p:sp>
        <p:nvSpPr>
          <p:cNvPr id="25" name="Card 25"/>
          <p:cNvSpPr/>
          <p:nvPr/>
        </p:nvSpPr>
        <p:spPr>
          <a:xfrm>
            <a:off x="594360" y="5358384"/>
            <a:ext cx="2596896" cy="393192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6350">
            <a:solidFill>
              <a:srgbClr val="F2F5F9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667512" y="5431536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80" u="none">
                <a:solidFill>
                  <a:srgbClr val="152B43"/>
                </a:solidFill>
                <a:latin typeface="Aptos"/>
              </a:rPr>
              <a:t>CTO · not found</a:t>
            </a:r>
            <a:endParaRPr lang="en-US"/>
          </a:p>
        </p:txBody>
      </p:sp>
      <p:sp>
        <p:nvSpPr>
          <p:cNvPr id="27" name="Card 27"/>
          <p:cNvSpPr/>
          <p:nvPr/>
        </p:nvSpPr>
        <p:spPr>
          <a:xfrm>
            <a:off x="3300984" y="5358384"/>
            <a:ext cx="2596896" cy="393192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6350">
            <a:solidFill>
              <a:srgbClr val="F2F5F9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3374136" y="5431536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80" u="none">
                <a:solidFill>
                  <a:srgbClr val="152B43"/>
                </a:solidFill>
                <a:latin typeface="Aptos"/>
              </a:rPr>
              <a:t>CIO · not found</a:t>
            </a:r>
            <a:endParaRPr lang="en-US"/>
          </a:p>
        </p:txBody>
      </p:sp>
      <p:sp>
        <p:nvSpPr>
          <p:cNvPr id="29" name="Text 29"/>
          <p:cNvSpPr txBox="1"/>
          <p:nvPr/>
        </p:nvSpPr>
        <p:spPr>
          <a:xfrm>
            <a:off x="594360" y="5843016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50" u="none">
                <a:solidFill>
                  <a:srgbClr val="152B43"/>
                </a:solidFill>
                <a:latin typeface="Aptos"/>
              </a:rPr>
              <a:t>Prior firms: not found · SEC: not found</a:t>
            </a:r>
            <a:endParaRPr lang="en-US"/>
          </a:p>
        </p:txBody>
      </p:sp>
      <p:sp>
        <p:nvSpPr>
          <p:cNvPr id="30" name="Text 30"/>
          <p:cNvSpPr txBox="1"/>
          <p:nvPr/>
        </p:nvSpPr>
        <p:spPr>
          <a:xfrm>
            <a:off x="594360" y="6117336"/>
            <a:ext cx="265176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50" u="none" b="1">
                <a:solidFill>
                  <a:srgbClr val="20B8A6"/>
                </a:solidFill>
                <a:latin typeface="Aptos"/>
                <a:hlinkClick r:id="link5"/>
              </a:rPr>
              <a:t>LinkedIn · Michael Fiddelke</a:t>
            </a:r>
            <a:endParaRPr lang="en-US"/>
          </a:p>
        </p:txBody>
      </p:sp>
      <p:sp>
        <p:nvSpPr>
          <p:cNvPr id="31" name="Text 31"/>
          <p:cNvSpPr txBox="1"/>
          <p:nvPr/>
        </p:nvSpPr>
        <p:spPr>
          <a:xfrm>
            <a:off x="6217920" y="1581912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2100" u="none" b="1">
                <a:solidFill>
                  <a:srgbClr val="152B43"/>
                </a:solidFill>
                <a:latin typeface="Aptos"/>
              </a:rPr>
              <a:t>Kroger</a:t>
            </a:r>
            <a:endParaRPr lang="en-US"/>
          </a:p>
        </p:txBody>
      </p:sp>
      <p:sp>
        <p:nvSpPr>
          <p:cNvPr id="32" name="Card 32"/>
          <p:cNvSpPr/>
          <p:nvPr/>
        </p:nvSpPr>
        <p:spPr>
          <a:xfrm>
            <a:off x="6217920" y="2048256"/>
            <a:ext cx="53035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E5EF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6400800" y="2322576"/>
            <a:ext cx="493776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600" u="none">
                <a:solidFill>
                  <a:srgbClr val="60748B"/>
                </a:solidFill>
                <a:latin typeface="Aptos"/>
              </a:rPr>
              <a:t>No supported signal extracted from the supplied evidence.</a:t>
            </a:r>
            <a:endParaRPr lang="en-US"/>
          </a:p>
        </p:txBody>
      </p:sp>
      <p:sp>
        <p:nvSpPr>
          <p:cNvPr id="34" name="Text 34"/>
          <p:cNvSpPr txBox="1"/>
          <p:nvPr/>
        </p:nvSpPr>
        <p:spPr>
          <a:xfrm>
            <a:off x="6217920" y="4599432"/>
            <a:ext cx="530352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50" u="none" b="1">
                <a:solidFill>
                  <a:srgbClr val="60748B"/>
                </a:solidFill>
                <a:latin typeface="Aptos"/>
              </a:rPr>
              <a:t>LEADERSHIP · PUBLIC SOURCE CANDIDATES</a:t>
            </a:r>
            <a:endParaRPr lang="en-US"/>
          </a:p>
        </p:txBody>
      </p:sp>
      <p:sp>
        <p:nvSpPr>
          <p:cNvPr id="35" name="Card 35"/>
          <p:cNvSpPr/>
          <p:nvPr/>
        </p:nvSpPr>
        <p:spPr>
          <a:xfrm>
            <a:off x="6217920" y="4873752"/>
            <a:ext cx="2596896" cy="393192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6350">
            <a:solidFill>
              <a:srgbClr val="F2F5F9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6291072" y="4946904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80" u="none">
                <a:solidFill>
                  <a:srgbClr val="152B43"/>
                </a:solidFill>
                <a:latin typeface="Aptos"/>
              </a:rPr>
              <a:t>CEO · Greg Foran</a:t>
            </a:r>
            <a:endParaRPr lang="en-US"/>
          </a:p>
        </p:txBody>
      </p:sp>
      <p:sp>
        <p:nvSpPr>
          <p:cNvPr id="37" name="Card 37"/>
          <p:cNvSpPr/>
          <p:nvPr/>
        </p:nvSpPr>
        <p:spPr>
          <a:xfrm>
            <a:off x="8924544" y="4873752"/>
            <a:ext cx="2596896" cy="393192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6350">
            <a:solidFill>
              <a:srgbClr val="F2F5F9"/>
            </a:solidFill>
          </a:ln>
        </p:spPr>
      </p:sp>
      <p:sp>
        <p:nvSpPr>
          <p:cNvPr id="38" name="Text 38"/>
          <p:cNvSpPr txBox="1"/>
          <p:nvPr/>
        </p:nvSpPr>
        <p:spPr>
          <a:xfrm>
            <a:off x="8997696" y="4946904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80" u="none">
                <a:solidFill>
                  <a:srgbClr val="152B43"/>
                </a:solidFill>
                <a:latin typeface="Aptos"/>
              </a:rPr>
              <a:t>CISO · Michael Haas</a:t>
            </a:r>
            <a:endParaRPr lang="en-US"/>
          </a:p>
        </p:txBody>
      </p:sp>
      <p:sp>
        <p:nvSpPr>
          <p:cNvPr id="39" name="Card 39"/>
          <p:cNvSpPr/>
          <p:nvPr/>
        </p:nvSpPr>
        <p:spPr>
          <a:xfrm>
            <a:off x="6217920" y="5358384"/>
            <a:ext cx="2596896" cy="393192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6350">
            <a:solidFill>
              <a:srgbClr val="F2F5F9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6291072" y="5431536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80" u="none">
                <a:solidFill>
                  <a:srgbClr val="152B43"/>
                </a:solidFill>
                <a:latin typeface="Aptos"/>
              </a:rPr>
              <a:t>CTO · not found</a:t>
            </a:r>
            <a:endParaRPr lang="en-US"/>
          </a:p>
        </p:txBody>
      </p:sp>
      <p:sp>
        <p:nvSpPr>
          <p:cNvPr id="41" name="Card 41"/>
          <p:cNvSpPr/>
          <p:nvPr/>
        </p:nvSpPr>
        <p:spPr>
          <a:xfrm>
            <a:off x="8924544" y="5358384"/>
            <a:ext cx="2596896" cy="393192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6350">
            <a:solidFill>
              <a:srgbClr val="F2F5F9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8997696" y="5431536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80" u="none">
                <a:solidFill>
                  <a:srgbClr val="152B43"/>
                </a:solidFill>
                <a:latin typeface="Aptos"/>
              </a:rPr>
              <a:t>CIO · not found</a:t>
            </a:r>
            <a:endParaRPr lang="en-US"/>
          </a:p>
        </p:txBody>
      </p:sp>
      <p:sp>
        <p:nvSpPr>
          <p:cNvPr id="43" name="Text 43"/>
          <p:cNvSpPr txBox="1"/>
          <p:nvPr/>
        </p:nvSpPr>
        <p:spPr>
          <a:xfrm>
            <a:off x="6217920" y="5843016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50" u="none">
                <a:solidFill>
                  <a:srgbClr val="152B43"/>
                </a:solidFill>
                <a:latin typeface="Aptos"/>
              </a:rPr>
              <a:t>Prior firms: not found · SEC: not found</a:t>
            </a:r>
            <a:endParaRPr lang="en-US"/>
          </a:p>
        </p:txBody>
      </p:sp>
      <p:sp>
        <p:nvSpPr>
          <p:cNvPr id="44" name="Card 44"/>
          <p:cNvSpPr/>
          <p:nvPr/>
        </p:nvSpPr>
        <p:spPr>
          <a:xfrm>
            <a:off x="548640" y="6419088"/>
            <a:ext cx="11064240" cy="10973"/>
          </a:xfrm>
          <a:prstGeom prst="rect">
            <a:avLst>
              <a:gd name="adj" fmla="val 8000"/>
            </a:avLst>
          </a:prstGeom>
          <a:solidFill>
            <a:srgbClr val="DCE5EF"/>
          </a:solidFill>
          <a:ln w="6350">
            <a:solidFill>
              <a:srgbClr val="DCE5EF"/>
            </a:solidFill>
          </a:ln>
        </p:spPr>
      </p:sp>
      <p:sp>
        <p:nvSpPr>
          <p:cNvPr id="45" name="Text 45"/>
          <p:cNvSpPr txBox="1"/>
          <p:nvPr/>
        </p:nvSpPr>
        <p:spPr>
          <a:xfrm>
            <a:off x="566928" y="6519672"/>
            <a:ext cx="10607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830" u="none">
                <a:solidFill>
                  <a:srgbClr val="60748B"/>
                </a:solidFill>
                <a:latin typeface="Aptos"/>
              </a:rPr>
              <a:t>Selected highlights · complete research retained in memory · research-196</a:t>
            </a:r>
            <a:endParaRPr lang="en-US"/>
          </a:p>
        </p:txBody>
      </p:sp>
      <p:sp>
        <p:nvSpPr>
          <p:cNvPr id="46" name="Text 46"/>
          <p:cNvSpPr txBox="1"/>
          <p:nvPr/>
        </p:nvSpPr>
        <p:spPr>
          <a:xfrm>
            <a:off x="11247120" y="64922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00" u="none" b="1">
                <a:solidFill>
                  <a:srgbClr val="60748B"/>
                </a:solidFill>
                <a:latin typeface="Aptos"/>
              </a:rPr>
              <a:t>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1695" cy="1435608"/>
          </a:xfrm>
          <a:prstGeom prst="rect">
            <a:avLst>
              <a:gd name="adj" fmla="val 8000"/>
            </a:avLst>
          </a:prstGeom>
          <a:solidFill>
            <a:srgbClr val="0D1B2E"/>
          </a:solidFill>
          <a:ln w="6350">
            <a:solidFill>
              <a:srgbClr val="0D1B2E"/>
            </a:solidFill>
          </a:ln>
        </p:spPr>
      </p:sp>
      <p:sp>
        <p:nvSpPr>
          <p:cNvPr id="3" name="Card 3"/>
          <p:cNvSpPr/>
          <p:nvPr/>
        </p:nvSpPr>
        <p:spPr>
          <a:xfrm>
            <a:off x="548640" y="301752"/>
            <a:ext cx="384048" cy="50292"/>
          </a:xfrm>
          <a:prstGeom prst="rect">
            <a:avLst>
              <a:gd name="adj" fmla="val 8000"/>
            </a:avLst>
          </a:prstGeom>
          <a:solidFill>
            <a:srgbClr val="68E2CD"/>
          </a:solidFill>
          <a:ln w="6350">
            <a:solidFill>
              <a:srgbClr val="68E2CD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1024128" y="228600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40" u="none" b="1">
                <a:solidFill>
                  <a:srgbClr val="A7BBD2"/>
                </a:solidFill>
                <a:latin typeface="Aptos"/>
              </a:rPr>
              <a:t>PUBLIC-SOURCE RESEARCH  /  TARGET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548640" y="603504"/>
            <a:ext cx="11018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2700" u="none" b="1">
                <a:solidFill>
                  <a:srgbClr val="FFFFFF"/>
                </a:solidFill>
                <a:latin typeface="Aptos"/>
              </a:rPr>
              <a:t>What changed &amp; what needs review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566928" y="1133856"/>
            <a:ext cx="10972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50" u="none">
                <a:solidFill>
                  <a:srgbClr val="B8C9DB"/>
                </a:solidFill>
                <a:latin typeface="Aptos"/>
              </a:rPr>
              <a:t>Snapshot comparison reflects saved observations, not independently confirmed new events</a:t>
            </a:r>
            <a:endParaRPr lang="en-US"/>
          </a:p>
        </p:txBody>
      </p:sp>
      <p:sp>
        <p:nvSpPr>
          <p:cNvPr id="7" name="Card 7"/>
          <p:cNvSpPr/>
          <p:nvPr/>
        </p:nvSpPr>
        <p:spPr>
          <a:xfrm>
            <a:off x="594360" y="1618488"/>
            <a:ext cx="5358384" cy="1865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E5EF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804672" y="1792224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 b="1">
                <a:solidFill>
                  <a:srgbClr val="20B8A6"/>
                </a:solidFill>
                <a:latin typeface="Aptos"/>
              </a:rPr>
              <a:t>RESEARCH MEMORY</a:t>
            </a:r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822960" y="2194560"/>
            <a:ext cx="15087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2900" u="none" b="1">
                <a:solidFill>
                  <a:srgbClr val="152B43"/>
                </a:solidFill>
                <a:latin typeface="Aptos"/>
              </a:rPr>
              <a:t>6</a:t>
            </a:r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822960" y="272491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>
                <a:solidFill>
                  <a:srgbClr val="60748B"/>
                </a:solidFill>
                <a:latin typeface="Aptos"/>
              </a:rPr>
              <a:t>new source URLs</a:t>
            </a:r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2505456" y="2194560"/>
            <a:ext cx="15087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2900" u="none" b="1">
                <a:solidFill>
                  <a:srgbClr val="152B43"/>
                </a:solidFill>
                <a:latin typeface="Aptos"/>
              </a:rPr>
              <a:t>0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2505456" y="272491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>
                <a:solidFill>
                  <a:srgbClr val="60748B"/>
                </a:solidFill>
                <a:latin typeface="Aptos"/>
              </a:rPr>
              <a:t>new signals</a:t>
            </a:r>
            <a:endParaRPr lang="en-US"/>
          </a:p>
        </p:txBody>
      </p:sp>
      <p:sp>
        <p:nvSpPr>
          <p:cNvPr id="13" name="Text 13"/>
          <p:cNvSpPr txBox="1"/>
          <p:nvPr/>
        </p:nvSpPr>
        <p:spPr>
          <a:xfrm>
            <a:off x="4187952" y="2194560"/>
            <a:ext cx="150876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2900" u="none" b="1">
                <a:solidFill>
                  <a:srgbClr val="152B43"/>
                </a:solidFill>
                <a:latin typeface="Aptos"/>
              </a:rPr>
              <a:t>0</a:t>
            </a:r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4187952" y="2724912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>
                <a:solidFill>
                  <a:srgbClr val="60748B"/>
                </a:solidFill>
                <a:latin typeface="Aptos"/>
              </a:rPr>
              <a:t>changed descriptions</a:t>
            </a:r>
            <a:endParaRPr lang="en-US"/>
          </a:p>
        </p:txBody>
      </p:sp>
      <p:sp>
        <p:nvSpPr>
          <p:cNvPr id="15" name="Card 15"/>
          <p:cNvSpPr/>
          <p:nvPr/>
        </p:nvSpPr>
        <p:spPr>
          <a:xfrm>
            <a:off x="6172200" y="1618488"/>
            <a:ext cx="5376672" cy="1865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E5EF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6382512" y="1792224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 b="1">
                <a:solidFill>
                  <a:srgbClr val="20B8A6"/>
                </a:solidFill>
                <a:latin typeface="Aptos"/>
              </a:rPr>
              <a:t>EVIDENCE COVERAGE</a:t>
            </a:r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6400800" y="219456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2900" u="none" b="1">
                <a:solidFill>
                  <a:srgbClr val="B77813"/>
                </a:solidFill>
                <a:latin typeface="Aptos"/>
              </a:rPr>
              <a:t>17</a:t>
            </a:r>
            <a:endParaRPr lang="en-US"/>
          </a:p>
        </p:txBody>
      </p:sp>
      <p:sp>
        <p:nvSpPr>
          <p:cNvPr id="18" name="Text 18"/>
          <p:cNvSpPr txBox="1"/>
          <p:nvPr/>
        </p:nvSpPr>
        <p:spPr>
          <a:xfrm>
            <a:off x="6400800" y="272491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>
                <a:solidFill>
                  <a:srgbClr val="60748B"/>
                </a:solidFill>
                <a:latin typeface="Aptos"/>
              </a:rPr>
              <a:t>records for review</a:t>
            </a:r>
            <a:endParaRPr lang="en-US"/>
          </a:p>
        </p:txBody>
      </p:sp>
      <p:sp>
        <p:nvSpPr>
          <p:cNvPr id="19" name="Text 19"/>
          <p:cNvSpPr txBox="1"/>
          <p:nvPr/>
        </p:nvSpPr>
        <p:spPr>
          <a:xfrm>
            <a:off x="8074152" y="219456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2900" u="none" b="1">
                <a:solidFill>
                  <a:srgbClr val="152B43"/>
                </a:solidFill>
                <a:latin typeface="Aptos"/>
              </a:rPr>
              <a:t>0</a:t>
            </a:r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8074152" y="272491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>
                <a:solidFill>
                  <a:srgbClr val="60748B"/>
                </a:solidFill>
                <a:latin typeface="Aptos"/>
              </a:rPr>
              <a:t>search gaps</a:t>
            </a:r>
            <a:endParaRPr lang="en-US"/>
          </a:p>
        </p:txBody>
      </p:sp>
      <p:sp>
        <p:nvSpPr>
          <p:cNvPr id="21" name="Text 21"/>
          <p:cNvSpPr txBox="1"/>
          <p:nvPr/>
        </p:nvSpPr>
        <p:spPr>
          <a:xfrm>
            <a:off x="9747504" y="219456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2900" u="none" b="1">
                <a:solidFill>
                  <a:srgbClr val="152B43"/>
                </a:solidFill>
                <a:latin typeface="Aptos"/>
              </a:rPr>
              <a:t>0</a:t>
            </a:r>
            <a:endParaRPr lang="en-US"/>
          </a:p>
        </p:txBody>
      </p:sp>
      <p:sp>
        <p:nvSpPr>
          <p:cNvPr id="22" name="Text 22"/>
          <p:cNvSpPr txBox="1"/>
          <p:nvPr/>
        </p:nvSpPr>
        <p:spPr>
          <a:xfrm>
            <a:off x="9747504" y="272491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>
                <a:solidFill>
                  <a:srgbClr val="60748B"/>
                </a:solidFill>
                <a:latin typeface="Aptos"/>
              </a:rPr>
              <a:t>analysis gaps</a:t>
            </a:r>
            <a:endParaRPr lang="en-US"/>
          </a:p>
        </p:txBody>
      </p:sp>
      <p:sp>
        <p:nvSpPr>
          <p:cNvPr id="23" name="Card 23"/>
          <p:cNvSpPr/>
          <p:nvPr/>
        </p:nvSpPr>
        <p:spPr>
          <a:xfrm>
            <a:off x="594360" y="3803904"/>
            <a:ext cx="3566160" cy="2020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E5EF"/>
            </a:solidFill>
          </a:ln>
        </p:spPr>
      </p:sp>
      <p:sp>
        <p:nvSpPr>
          <p:cNvPr id="24" name="Card 24"/>
          <p:cNvSpPr/>
          <p:nvPr/>
        </p:nvSpPr>
        <p:spPr>
          <a:xfrm>
            <a:off x="777240" y="4014216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8F7F3"/>
          </a:solidFill>
          <a:ln w="6350">
            <a:solidFill>
              <a:srgbClr val="E8F7F3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877824" y="4078224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 b="1">
                <a:solidFill>
                  <a:srgbClr val="20B8A6"/>
                </a:solidFill>
                <a:latin typeface="Aptos"/>
              </a:rPr>
              <a:t>1</a:t>
            </a:r>
            <a:endParaRPr lang="en-US"/>
          </a:p>
        </p:txBody>
      </p:sp>
      <p:sp>
        <p:nvSpPr>
          <p:cNvPr id="26" name="Text 26"/>
          <p:cNvSpPr txBox="1"/>
          <p:nvPr/>
        </p:nvSpPr>
        <p:spPr>
          <a:xfrm>
            <a:off x="777240" y="4517136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700" u="none" b="1">
                <a:solidFill>
                  <a:srgbClr val="152B43"/>
                </a:solidFill>
                <a:latin typeface="Aptos"/>
              </a:rPr>
              <a:t>Verify source material</a:t>
            </a:r>
            <a:endParaRPr lang="en-US"/>
          </a:p>
        </p:txBody>
      </p:sp>
      <p:sp>
        <p:nvSpPr>
          <p:cNvPr id="27" name="Text 27"/>
          <p:cNvSpPr txBox="1"/>
          <p:nvPr/>
        </p:nvSpPr>
        <p:spPr>
          <a:xfrm>
            <a:off x="777240" y="5010912"/>
            <a:ext cx="3200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30" u="none">
                <a:solidFill>
                  <a:srgbClr val="60748B"/>
                </a:solidFill>
                <a:latin typeface="Aptos"/>
              </a:rPr>
              <a:t>Review original articles and public biographies. Search snippets alone do not confirm company actions.</a:t>
            </a:r>
            <a:endParaRPr lang="en-US"/>
          </a:p>
        </p:txBody>
      </p:sp>
      <p:sp>
        <p:nvSpPr>
          <p:cNvPr id="28" name="Card 28"/>
          <p:cNvSpPr/>
          <p:nvPr/>
        </p:nvSpPr>
        <p:spPr>
          <a:xfrm>
            <a:off x="4343400" y="3803904"/>
            <a:ext cx="3566160" cy="2020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E5EF"/>
            </a:solidFill>
          </a:ln>
        </p:spPr>
      </p:sp>
      <p:sp>
        <p:nvSpPr>
          <p:cNvPr id="29" name="Card 29"/>
          <p:cNvSpPr/>
          <p:nvPr/>
        </p:nvSpPr>
        <p:spPr>
          <a:xfrm>
            <a:off x="4526280" y="4014216"/>
            <a:ext cx="329184" cy="329184"/>
          </a:xfrm>
          <a:prstGeom prst="roundRect">
            <a:avLst>
              <a:gd name="adj" fmla="val 8000"/>
            </a:avLst>
          </a:prstGeom>
          <a:solidFill>
            <a:srgbClr val="FFF4DF"/>
          </a:solidFill>
          <a:ln w="6350">
            <a:solidFill>
              <a:srgbClr val="FFF4DF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4626864" y="4078224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 b="1">
                <a:solidFill>
                  <a:srgbClr val="B77813"/>
                </a:solidFill>
                <a:latin typeface="Aptos"/>
              </a:rPr>
              <a:t>2</a:t>
            </a:r>
            <a:endParaRPr lang="en-US"/>
          </a:p>
        </p:txBody>
      </p:sp>
      <p:sp>
        <p:nvSpPr>
          <p:cNvPr id="31" name="Text 31"/>
          <p:cNvSpPr txBox="1"/>
          <p:nvPr/>
        </p:nvSpPr>
        <p:spPr>
          <a:xfrm>
            <a:off x="4526280" y="4517136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700" u="none" b="1">
                <a:solidFill>
                  <a:srgbClr val="152B43"/>
                </a:solidFill>
                <a:latin typeface="Aptos"/>
              </a:rPr>
              <a:t>Resolve leadership gaps</a:t>
            </a:r>
            <a:endParaRPr lang="en-US"/>
          </a:p>
        </p:txBody>
      </p:sp>
      <p:sp>
        <p:nvSpPr>
          <p:cNvPr id="32" name="Text 32"/>
          <p:cNvSpPr txBox="1"/>
          <p:nvPr/>
        </p:nvSpPr>
        <p:spPr>
          <a:xfrm>
            <a:off x="4526280" y="5010912"/>
            <a:ext cx="3200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30" u="none">
                <a:solidFill>
                  <a:srgbClr val="60748B"/>
                </a:solidFill>
                <a:latin typeface="Aptos"/>
              </a:rPr>
              <a:t>5 saved roles are missing, disputed or conflicting. 0 companies have no saved Agent 4 background.</a:t>
            </a:r>
            <a:endParaRPr lang="en-US"/>
          </a:p>
        </p:txBody>
      </p:sp>
      <p:sp>
        <p:nvSpPr>
          <p:cNvPr id="33" name="Card 33"/>
          <p:cNvSpPr/>
          <p:nvPr/>
        </p:nvSpPr>
        <p:spPr>
          <a:xfrm>
            <a:off x="8092440" y="3803904"/>
            <a:ext cx="3566160" cy="2020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E5EF"/>
            </a:solidFill>
          </a:ln>
        </p:spPr>
      </p:sp>
      <p:sp>
        <p:nvSpPr>
          <p:cNvPr id="34" name="Card 34"/>
          <p:cNvSpPr/>
          <p:nvPr/>
        </p:nvSpPr>
        <p:spPr>
          <a:xfrm>
            <a:off x="8275320" y="4014216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8F7F3"/>
          </a:solidFill>
          <a:ln w="6350">
            <a:solidFill>
              <a:srgbClr val="E8F7F3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8375904" y="4078224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 b="1">
                <a:solidFill>
                  <a:srgbClr val="20B8A6"/>
                </a:solidFill>
                <a:latin typeface="Aptos"/>
              </a:rPr>
              <a:t>3</a:t>
            </a:r>
            <a:endParaRPr lang="en-US"/>
          </a:p>
        </p:txBody>
      </p:sp>
      <p:sp>
        <p:nvSpPr>
          <p:cNvPr id="36" name="Text 36"/>
          <p:cNvSpPr txBox="1"/>
          <p:nvPr/>
        </p:nvSpPr>
        <p:spPr>
          <a:xfrm>
            <a:off x="8275320" y="4517136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700" u="none" b="1">
                <a:solidFill>
                  <a:srgbClr val="152B43"/>
                </a:solidFill>
                <a:latin typeface="Aptos"/>
              </a:rPr>
              <a:t>Complete the coverage</a:t>
            </a:r>
            <a:endParaRPr lang="en-US"/>
          </a:p>
        </p:txBody>
      </p:sp>
      <p:sp>
        <p:nvSpPr>
          <p:cNvPr id="37" name="Text 37"/>
          <p:cNvSpPr txBox="1"/>
          <p:nvPr/>
        </p:nvSpPr>
        <p:spPr>
          <a:xfrm>
            <a:off x="8275320" y="5010912"/>
            <a:ext cx="3200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230" u="none">
                <a:solidFill>
                  <a:srgbClr val="60748B"/>
                </a:solidFill>
                <a:latin typeface="Aptos"/>
              </a:rPr>
              <a:t>0 company search gaps; 0 saved leadership search gaps. Retain old research with its dates.</a:t>
            </a:r>
            <a:endParaRPr lang="en-US"/>
          </a:p>
        </p:txBody>
      </p:sp>
      <p:sp>
        <p:nvSpPr>
          <p:cNvPr id="38" name="Text 38"/>
          <p:cNvSpPr txBox="1"/>
          <p:nvPr/>
        </p:nvSpPr>
        <p:spPr>
          <a:xfrm>
            <a:off x="640080" y="6062472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50" u="none">
                <a:solidFill>
                  <a:srgbClr val="60748B"/>
                </a:solidFill>
                <a:latin typeface="Aptos"/>
              </a:rPr>
              <a:t>Previous saved run: research-191 · 2026-10-25</a:t>
            </a:r>
            <a:endParaRPr lang="en-US"/>
          </a:p>
        </p:txBody>
      </p:sp>
      <p:sp>
        <p:nvSpPr>
          <p:cNvPr id="39" name="Card 39"/>
          <p:cNvSpPr/>
          <p:nvPr/>
        </p:nvSpPr>
        <p:spPr>
          <a:xfrm>
            <a:off x="548640" y="6419088"/>
            <a:ext cx="11064240" cy="10973"/>
          </a:xfrm>
          <a:prstGeom prst="rect">
            <a:avLst>
              <a:gd name="adj" fmla="val 8000"/>
            </a:avLst>
          </a:prstGeom>
          <a:solidFill>
            <a:srgbClr val="DCE5EF"/>
          </a:solidFill>
          <a:ln w="6350">
            <a:solidFill>
              <a:srgbClr val="DCE5EF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566928" y="6519672"/>
            <a:ext cx="10607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830" u="none">
                <a:solidFill>
                  <a:srgbClr val="60748B"/>
                </a:solidFill>
                <a:latin typeface="Aptos"/>
              </a:rPr>
              <a:t>Selected highlights · complete research retained in memory · research-196</a:t>
            </a:r>
            <a:endParaRPr lang="en-US"/>
          </a:p>
        </p:txBody>
      </p:sp>
      <p:sp>
        <p:nvSpPr>
          <p:cNvPr id="41" name="Text 41"/>
          <p:cNvSpPr txBox="1"/>
          <p:nvPr/>
        </p:nvSpPr>
        <p:spPr>
          <a:xfrm>
            <a:off x="11247120" y="64922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00" u="none" b="1">
                <a:solidFill>
                  <a:srgbClr val="60748B"/>
                </a:solidFill>
                <a:latin typeface="Aptos"/>
              </a:rPr>
              <a:t>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1695" cy="1435608"/>
          </a:xfrm>
          <a:prstGeom prst="rect">
            <a:avLst>
              <a:gd name="adj" fmla="val 8000"/>
            </a:avLst>
          </a:prstGeom>
          <a:solidFill>
            <a:srgbClr val="0D1B2E"/>
          </a:solidFill>
          <a:ln w="6350">
            <a:solidFill>
              <a:srgbClr val="0D1B2E"/>
            </a:solidFill>
          </a:ln>
        </p:spPr>
      </p:sp>
      <p:sp>
        <p:nvSpPr>
          <p:cNvPr id="3" name="Card 3"/>
          <p:cNvSpPr/>
          <p:nvPr/>
        </p:nvSpPr>
        <p:spPr>
          <a:xfrm>
            <a:off x="548640" y="301752"/>
            <a:ext cx="384048" cy="50292"/>
          </a:xfrm>
          <a:prstGeom prst="rect">
            <a:avLst>
              <a:gd name="adj" fmla="val 8000"/>
            </a:avLst>
          </a:prstGeom>
          <a:solidFill>
            <a:srgbClr val="68E2CD"/>
          </a:solidFill>
          <a:ln w="6350">
            <a:solidFill>
              <a:srgbClr val="68E2CD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1024128" y="228600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40" u="none" b="1">
                <a:solidFill>
                  <a:srgbClr val="A7BBD2"/>
                </a:solidFill>
                <a:latin typeface="Aptos"/>
              </a:rPr>
              <a:t>PUBLIC-SOURCE RESEARCH  /  SOURCE REGISTER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548640" y="603504"/>
            <a:ext cx="11018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2700" u="none" b="1">
                <a:solidFill>
                  <a:srgbClr val="FFFFFF"/>
                </a:solidFill>
                <a:latin typeface="Aptos"/>
              </a:rPr>
              <a:t>Sources and publication dates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566928" y="1133856"/>
            <a:ext cx="10972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50" u="none">
                <a:solidFill>
                  <a:srgbClr val="B8C9DB"/>
                </a:solidFill>
                <a:latin typeface="Aptos"/>
              </a:rPr>
              <a:t>Clickable source register for displayed highlights · complete evidence and quotations retained in saved research</a:t>
            </a:r>
            <a:endParaRPr lang="en-US"/>
          </a:p>
        </p:txBody>
      </p:sp>
      <p:sp>
        <p:nvSpPr>
          <p:cNvPr id="7" name="Card 7"/>
          <p:cNvSpPr/>
          <p:nvPr/>
        </p:nvSpPr>
        <p:spPr>
          <a:xfrm>
            <a:off x="594360" y="1664208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E5EF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22376" y="173736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 b="1">
                <a:solidFill>
                  <a:srgbClr val="20B8A6"/>
                </a:solidFill>
                <a:latin typeface="Aptos"/>
                <a:hlinkClick r:id="link1"/>
              </a:rPr>
              <a:t>S001</a:t>
            </a:r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1344168" y="1737360"/>
            <a:ext cx="438912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70" u="none" b="1">
                <a:solidFill>
                  <a:srgbClr val="152B43"/>
                </a:solidFill>
                <a:latin typeface="Aptos"/>
                <a:hlinkClick r:id="link2"/>
              </a:rPr>
              <a:t>Kroger revenue</a:t>
            </a:r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1344168" y="2139696"/>
            <a:ext cx="4389120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80" u="none">
                <a:solidFill>
                  <a:srgbClr val="60748B"/>
                </a:solidFill>
                <a:latin typeface="Aptos"/>
                <a:hlinkClick r:id="link3"/>
              </a:rPr>
              <a:t>ir.kroger.com · 2025</a:t>
            </a:r>
            <a:endParaRPr lang="en-US"/>
          </a:p>
        </p:txBody>
      </p:sp>
      <p:sp>
        <p:nvSpPr>
          <p:cNvPr id="11" name="Card 11"/>
          <p:cNvSpPr/>
          <p:nvPr/>
        </p:nvSpPr>
        <p:spPr>
          <a:xfrm>
            <a:off x="6217920" y="1664208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E5EF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6345936" y="173736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 b="1">
                <a:solidFill>
                  <a:srgbClr val="20B8A6"/>
                </a:solidFill>
                <a:latin typeface="Aptos"/>
                <a:hlinkClick r:id="link4"/>
              </a:rPr>
              <a:t>S003</a:t>
            </a:r>
            <a:endParaRPr lang="en-US"/>
          </a:p>
        </p:txBody>
      </p:sp>
      <p:sp>
        <p:nvSpPr>
          <p:cNvPr id="13" name="Text 13"/>
          <p:cNvSpPr txBox="1"/>
          <p:nvPr/>
        </p:nvSpPr>
        <p:spPr>
          <a:xfrm>
            <a:off x="6967728" y="1737360"/>
            <a:ext cx="438912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70" u="none" b="1">
                <a:solidFill>
                  <a:srgbClr val="152B43"/>
                </a:solidFill>
                <a:latin typeface="Aptos"/>
                <a:hlinkClick r:id="link5"/>
              </a:rPr>
              <a:t>Target Strengthens AI and UX Capabilities to Power Its ...</a:t>
            </a:r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6967728" y="2139696"/>
            <a:ext cx="4389120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80" u="none">
                <a:solidFill>
                  <a:srgbClr val="60748B"/>
                </a:solidFill>
                <a:latin typeface="Aptos"/>
                <a:hlinkClick r:id="link6"/>
              </a:rPr>
              <a:t>corporate.target.com · 2026-08-10</a:t>
            </a:r>
            <a:endParaRPr lang="en-US"/>
          </a:p>
        </p:txBody>
      </p:sp>
      <p:sp>
        <p:nvSpPr>
          <p:cNvPr id="15" name="Card 15"/>
          <p:cNvSpPr/>
          <p:nvPr/>
        </p:nvSpPr>
        <p:spPr>
          <a:xfrm>
            <a:off x="594360" y="2404872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E5EF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722376" y="2478024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 b="1">
                <a:solidFill>
                  <a:srgbClr val="20B8A6"/>
                </a:solidFill>
                <a:latin typeface="Aptos"/>
                <a:hlinkClick r:id="link7"/>
              </a:rPr>
              <a:t>S004</a:t>
            </a:r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1344168" y="2478024"/>
            <a:ext cx="438912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70" u="none" b="1">
                <a:solidFill>
                  <a:srgbClr val="152B43"/>
                </a:solidFill>
                <a:latin typeface="Aptos"/>
                <a:hlinkClick r:id="link8"/>
              </a:rPr>
              <a:t>Target taps Lowe's executive as first chief AI officer</a:t>
            </a:r>
            <a:endParaRPr lang="en-US"/>
          </a:p>
        </p:txBody>
      </p:sp>
      <p:sp>
        <p:nvSpPr>
          <p:cNvPr id="18" name="Text 18"/>
          <p:cNvSpPr txBox="1"/>
          <p:nvPr/>
        </p:nvSpPr>
        <p:spPr>
          <a:xfrm>
            <a:off x="1344168" y="2880360"/>
            <a:ext cx="4389120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80" u="none">
                <a:solidFill>
                  <a:srgbClr val="60748B"/>
                </a:solidFill>
                <a:latin typeface="Aptos"/>
                <a:hlinkClick r:id="link9"/>
              </a:rPr>
              <a:t>www.ciodive.com · 2026-08-10</a:t>
            </a:r>
            <a:endParaRPr lang="en-US"/>
          </a:p>
        </p:txBody>
      </p:sp>
      <p:sp>
        <p:nvSpPr>
          <p:cNvPr id="19" name="Card 19"/>
          <p:cNvSpPr/>
          <p:nvPr/>
        </p:nvSpPr>
        <p:spPr>
          <a:xfrm>
            <a:off x="6217920" y="2404872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E5EF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6345936" y="2478024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 b="1">
                <a:solidFill>
                  <a:srgbClr val="20B8A6"/>
                </a:solidFill>
                <a:latin typeface="Aptos"/>
                <a:hlinkClick r:id="link10"/>
              </a:rPr>
              <a:t>S023</a:t>
            </a:r>
            <a:endParaRPr lang="en-US"/>
          </a:p>
        </p:txBody>
      </p:sp>
      <p:sp>
        <p:nvSpPr>
          <p:cNvPr id="21" name="Text 21"/>
          <p:cNvSpPr txBox="1"/>
          <p:nvPr/>
        </p:nvSpPr>
        <p:spPr>
          <a:xfrm>
            <a:off x="6967728" y="2478024"/>
            <a:ext cx="438912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70" u="none" b="1">
                <a:solidFill>
                  <a:srgbClr val="152B43"/>
                </a:solidFill>
                <a:latin typeface="Aptos"/>
                <a:hlinkClick r:id="link11"/>
              </a:rPr>
              <a:t>#gregforan #kroger #wearekroger #ceo #leadership</a:t>
            </a:r>
            <a:endParaRPr lang="en-US"/>
          </a:p>
        </p:txBody>
      </p:sp>
      <p:sp>
        <p:nvSpPr>
          <p:cNvPr id="22" name="Text 22"/>
          <p:cNvSpPr txBox="1"/>
          <p:nvPr/>
        </p:nvSpPr>
        <p:spPr>
          <a:xfrm>
            <a:off x="6967728" y="2880360"/>
            <a:ext cx="4389120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80" u="none">
                <a:solidFill>
                  <a:srgbClr val="60748B"/>
                </a:solidFill>
                <a:latin typeface="Aptos"/>
                <a:hlinkClick r:id="link12"/>
              </a:rPr>
              <a:t>www.linkedin.com · not found</a:t>
            </a:r>
            <a:endParaRPr lang="en-US"/>
          </a:p>
        </p:txBody>
      </p:sp>
      <p:sp>
        <p:nvSpPr>
          <p:cNvPr id="23" name="Card 23"/>
          <p:cNvSpPr/>
          <p:nvPr/>
        </p:nvSpPr>
        <p:spPr>
          <a:xfrm>
            <a:off x="594360" y="3145536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E5EF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722376" y="321868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 b="1">
                <a:solidFill>
                  <a:srgbClr val="20B8A6"/>
                </a:solidFill>
                <a:latin typeface="Aptos"/>
                <a:hlinkClick r:id="link13"/>
              </a:rPr>
              <a:t>S024</a:t>
            </a:r>
            <a:endParaRPr lang="en-US"/>
          </a:p>
        </p:txBody>
      </p:sp>
      <p:sp>
        <p:nvSpPr>
          <p:cNvPr id="25" name="Text 25"/>
          <p:cNvSpPr txBox="1"/>
          <p:nvPr/>
        </p:nvSpPr>
        <p:spPr>
          <a:xfrm>
            <a:off x="1344168" y="3218688"/>
            <a:ext cx="438912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70" u="none" b="1">
                <a:solidFill>
                  <a:srgbClr val="152B43"/>
                </a:solidFill>
                <a:latin typeface="Aptos"/>
                <a:hlinkClick r:id="link14"/>
              </a:rPr>
              <a:t>How Kroger is reshaping its C-suite</a:t>
            </a:r>
            <a:endParaRPr lang="en-US"/>
          </a:p>
        </p:txBody>
      </p:sp>
      <p:sp>
        <p:nvSpPr>
          <p:cNvPr id="26" name="Text 26"/>
          <p:cNvSpPr txBox="1"/>
          <p:nvPr/>
        </p:nvSpPr>
        <p:spPr>
          <a:xfrm>
            <a:off x="1344168" y="3621024"/>
            <a:ext cx="4389120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80" u="none">
                <a:solidFill>
                  <a:srgbClr val="60748B"/>
                </a:solidFill>
                <a:latin typeface="Aptos"/>
                <a:hlinkClick r:id="link15"/>
              </a:rPr>
              <a:t>www.grocerydive.com · Sep 21, 2026</a:t>
            </a:r>
            <a:endParaRPr lang="en-US"/>
          </a:p>
        </p:txBody>
      </p:sp>
      <p:sp>
        <p:nvSpPr>
          <p:cNvPr id="27" name="Card 27"/>
          <p:cNvSpPr/>
          <p:nvPr/>
        </p:nvSpPr>
        <p:spPr>
          <a:xfrm>
            <a:off x="6217920" y="3145536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E5EF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6345936" y="321868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 b="1">
                <a:solidFill>
                  <a:srgbClr val="20B8A6"/>
                </a:solidFill>
                <a:latin typeface="Aptos"/>
                <a:hlinkClick r:id="link16"/>
              </a:rPr>
              <a:t>S028</a:t>
            </a:r>
            <a:endParaRPr lang="en-US"/>
          </a:p>
        </p:txBody>
      </p:sp>
      <p:sp>
        <p:nvSpPr>
          <p:cNvPr id="29" name="Text 29"/>
          <p:cNvSpPr txBox="1"/>
          <p:nvPr/>
        </p:nvSpPr>
        <p:spPr>
          <a:xfrm>
            <a:off x="6967728" y="3218688"/>
            <a:ext cx="438912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70" u="none" b="1">
                <a:solidFill>
                  <a:srgbClr val="152B43"/>
                </a:solidFill>
                <a:latin typeface="Aptos"/>
                <a:hlinkClick r:id="link17"/>
              </a:rPr>
              <a:t>Ohio CISO Community</a:t>
            </a:r>
            <a:endParaRPr lang="en-US"/>
          </a:p>
        </p:txBody>
      </p:sp>
      <p:sp>
        <p:nvSpPr>
          <p:cNvPr id="30" name="Text 30"/>
          <p:cNvSpPr txBox="1"/>
          <p:nvPr/>
        </p:nvSpPr>
        <p:spPr>
          <a:xfrm>
            <a:off x="6967728" y="3621024"/>
            <a:ext cx="4389120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80" u="none">
                <a:solidFill>
                  <a:srgbClr val="60748B"/>
                </a:solidFill>
                <a:latin typeface="Aptos"/>
                <a:hlinkClick r:id="link18"/>
              </a:rPr>
              <a:t>www.evanta.com · not found</a:t>
            </a:r>
            <a:endParaRPr lang="en-US"/>
          </a:p>
        </p:txBody>
      </p:sp>
      <p:sp>
        <p:nvSpPr>
          <p:cNvPr id="31" name="Card 31"/>
          <p:cNvSpPr/>
          <p:nvPr/>
        </p:nvSpPr>
        <p:spPr>
          <a:xfrm>
            <a:off x="594360" y="388620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E5EF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722376" y="3959352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 b="1">
                <a:solidFill>
                  <a:srgbClr val="20B8A6"/>
                </a:solidFill>
                <a:latin typeface="Aptos"/>
                <a:hlinkClick r:id="link19"/>
              </a:rPr>
              <a:t>S031</a:t>
            </a:r>
            <a:endParaRPr lang="en-US"/>
          </a:p>
        </p:txBody>
      </p:sp>
      <p:sp>
        <p:nvSpPr>
          <p:cNvPr id="33" name="Text 33"/>
          <p:cNvSpPr txBox="1"/>
          <p:nvPr/>
        </p:nvSpPr>
        <p:spPr>
          <a:xfrm>
            <a:off x="1344168" y="3959352"/>
            <a:ext cx="438912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70" u="none" b="1">
                <a:solidFill>
                  <a:srgbClr val="152B43"/>
                </a:solidFill>
                <a:latin typeface="Aptos"/>
                <a:hlinkClick r:id="link20"/>
              </a:rPr>
              <a:t>Leadership Team &amp; Executive Officers</a:t>
            </a:r>
            <a:endParaRPr lang="en-US"/>
          </a:p>
        </p:txBody>
      </p:sp>
      <p:sp>
        <p:nvSpPr>
          <p:cNvPr id="34" name="Text 34"/>
          <p:cNvSpPr txBox="1"/>
          <p:nvPr/>
        </p:nvSpPr>
        <p:spPr>
          <a:xfrm>
            <a:off x="1344168" y="4361688"/>
            <a:ext cx="4389120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80" u="none">
                <a:solidFill>
                  <a:srgbClr val="60748B"/>
                </a:solidFill>
                <a:latin typeface="Aptos"/>
                <a:hlinkClick r:id="link21"/>
              </a:rPr>
              <a:t>corporate.target.com · not found</a:t>
            </a:r>
            <a:endParaRPr lang="en-US"/>
          </a:p>
        </p:txBody>
      </p:sp>
      <p:sp>
        <p:nvSpPr>
          <p:cNvPr id="35" name="Card 35"/>
          <p:cNvSpPr/>
          <p:nvPr/>
        </p:nvSpPr>
        <p:spPr>
          <a:xfrm>
            <a:off x="6217920" y="388620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E5EF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6345936" y="3959352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 b="1">
                <a:solidFill>
                  <a:srgbClr val="20B8A6"/>
                </a:solidFill>
                <a:latin typeface="Aptos"/>
                <a:hlinkClick r:id="link22"/>
              </a:rPr>
              <a:t>S034</a:t>
            </a:r>
            <a:endParaRPr lang="en-US"/>
          </a:p>
        </p:txBody>
      </p:sp>
      <p:sp>
        <p:nvSpPr>
          <p:cNvPr id="37" name="Text 37"/>
          <p:cNvSpPr txBox="1"/>
          <p:nvPr/>
        </p:nvSpPr>
        <p:spPr>
          <a:xfrm>
            <a:off x="6967728" y="3959352"/>
            <a:ext cx="438912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70" u="none" b="1">
                <a:solidFill>
                  <a:srgbClr val="152B43"/>
                </a:solidFill>
                <a:latin typeface="Aptos"/>
                <a:hlinkClick r:id="link23"/>
              </a:rPr>
              <a:t>Michael Fiddelke - CEO at Target</a:t>
            </a:r>
            <a:endParaRPr lang="en-US"/>
          </a:p>
        </p:txBody>
      </p:sp>
      <p:sp>
        <p:nvSpPr>
          <p:cNvPr id="38" name="Text 38"/>
          <p:cNvSpPr txBox="1"/>
          <p:nvPr/>
        </p:nvSpPr>
        <p:spPr>
          <a:xfrm>
            <a:off x="6967728" y="4361688"/>
            <a:ext cx="4389120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80" u="none">
                <a:solidFill>
                  <a:srgbClr val="60748B"/>
                </a:solidFill>
                <a:latin typeface="Aptos"/>
                <a:hlinkClick r:id="link24"/>
              </a:rPr>
              <a:t>www.linkedin.com · not found</a:t>
            </a:r>
            <a:endParaRPr lang="en-US"/>
          </a:p>
        </p:txBody>
      </p:sp>
      <p:sp>
        <p:nvSpPr>
          <p:cNvPr id="39" name="Card 39"/>
          <p:cNvSpPr/>
          <p:nvPr/>
        </p:nvSpPr>
        <p:spPr>
          <a:xfrm>
            <a:off x="594360" y="4626864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E5EF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722376" y="470001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 b="1">
                <a:solidFill>
                  <a:srgbClr val="20B8A6"/>
                </a:solidFill>
                <a:latin typeface="Aptos"/>
                <a:hlinkClick r:id="link25"/>
              </a:rPr>
              <a:t>S036</a:t>
            </a:r>
            <a:endParaRPr lang="en-US"/>
          </a:p>
        </p:txBody>
      </p:sp>
      <p:sp>
        <p:nvSpPr>
          <p:cNvPr id="41" name="Text 41"/>
          <p:cNvSpPr txBox="1"/>
          <p:nvPr/>
        </p:nvSpPr>
        <p:spPr>
          <a:xfrm>
            <a:off x="1344168" y="4700016"/>
            <a:ext cx="438912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70" u="none" b="1">
                <a:solidFill>
                  <a:srgbClr val="152B43"/>
                </a:solidFill>
                <a:latin typeface="Aptos"/>
                <a:hlinkClick r:id="link26"/>
              </a:rPr>
              <a:t>Jodie Kautt - SVP &amp; CISO</a:t>
            </a:r>
            <a:endParaRPr lang="en-US"/>
          </a:p>
        </p:txBody>
      </p:sp>
      <p:sp>
        <p:nvSpPr>
          <p:cNvPr id="42" name="Text 42"/>
          <p:cNvSpPr txBox="1"/>
          <p:nvPr/>
        </p:nvSpPr>
        <p:spPr>
          <a:xfrm>
            <a:off x="1344168" y="5102352"/>
            <a:ext cx="4389120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80" u="none">
                <a:solidFill>
                  <a:srgbClr val="60748B"/>
                </a:solidFill>
                <a:latin typeface="Aptos"/>
                <a:hlinkClick r:id="link27"/>
              </a:rPr>
              <a:t>www.linkedin.com · not found</a:t>
            </a:r>
            <a:endParaRPr lang="en-US"/>
          </a:p>
        </p:txBody>
      </p:sp>
      <p:sp>
        <p:nvSpPr>
          <p:cNvPr id="43" name="Card 43"/>
          <p:cNvSpPr/>
          <p:nvPr/>
        </p:nvSpPr>
        <p:spPr>
          <a:xfrm>
            <a:off x="6217920" y="4626864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CE5EF"/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6345936" y="470001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00" u="none" b="1">
                <a:solidFill>
                  <a:srgbClr val="20B8A6"/>
                </a:solidFill>
                <a:latin typeface="Aptos"/>
                <a:hlinkClick r:id="link28"/>
              </a:rPr>
              <a:t>S037</a:t>
            </a:r>
            <a:endParaRPr lang="en-US"/>
          </a:p>
        </p:txBody>
      </p:sp>
      <p:sp>
        <p:nvSpPr>
          <p:cNvPr id="45" name="Text 45"/>
          <p:cNvSpPr txBox="1"/>
          <p:nvPr/>
        </p:nvSpPr>
        <p:spPr>
          <a:xfrm>
            <a:off x="6967728" y="4700016"/>
            <a:ext cx="438912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170" u="none" b="1">
                <a:solidFill>
                  <a:srgbClr val="152B43"/>
                </a:solidFill>
                <a:latin typeface="Aptos"/>
                <a:hlinkClick r:id="link29"/>
              </a:rPr>
              <a:t>Rich Agostino</a:t>
            </a:r>
            <a:endParaRPr lang="en-US"/>
          </a:p>
        </p:txBody>
      </p:sp>
      <p:sp>
        <p:nvSpPr>
          <p:cNvPr id="46" name="Text 46"/>
          <p:cNvSpPr txBox="1"/>
          <p:nvPr/>
        </p:nvSpPr>
        <p:spPr>
          <a:xfrm>
            <a:off x="6967728" y="5102352"/>
            <a:ext cx="4389120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980" u="none">
                <a:solidFill>
                  <a:srgbClr val="60748B"/>
                </a:solidFill>
                <a:latin typeface="Aptos"/>
                <a:hlinkClick r:id="link30"/>
              </a:rPr>
              <a:t>www.rsaconference.com · not found</a:t>
            </a:r>
            <a:endParaRPr lang="en-US"/>
          </a:p>
        </p:txBody>
      </p:sp>
      <p:sp>
        <p:nvSpPr>
          <p:cNvPr id="47" name="Card 47"/>
          <p:cNvSpPr/>
          <p:nvPr/>
        </p:nvSpPr>
        <p:spPr>
          <a:xfrm>
            <a:off x="548640" y="6419088"/>
            <a:ext cx="11064240" cy="10973"/>
          </a:xfrm>
          <a:prstGeom prst="rect">
            <a:avLst>
              <a:gd name="adj" fmla="val 8000"/>
            </a:avLst>
          </a:prstGeom>
          <a:solidFill>
            <a:srgbClr val="DCE5EF"/>
          </a:solidFill>
          <a:ln w="6350">
            <a:solidFill>
              <a:srgbClr val="DCE5EF"/>
            </a:solidFill>
          </a:ln>
        </p:spPr>
      </p:sp>
      <p:sp>
        <p:nvSpPr>
          <p:cNvPr id="48" name="Text 48"/>
          <p:cNvSpPr txBox="1"/>
          <p:nvPr/>
        </p:nvSpPr>
        <p:spPr>
          <a:xfrm>
            <a:off x="566928" y="6519672"/>
            <a:ext cx="10607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830" u="none">
                <a:solidFill>
                  <a:srgbClr val="60748B"/>
                </a:solidFill>
                <a:latin typeface="Aptos"/>
              </a:rPr>
              <a:t>Selected highlights · complete research retained in memory · research-196</a:t>
            </a:r>
            <a:endParaRPr lang="en-US"/>
          </a:p>
        </p:txBody>
      </p:sp>
      <p:sp>
        <p:nvSpPr>
          <p:cNvPr id="49" name="Text 49"/>
          <p:cNvSpPr txBox="1"/>
          <p:nvPr/>
        </p:nvSpPr>
        <p:spPr>
          <a:xfrm>
            <a:off x="11247120" y="64922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sz="1000" u="none" b="1">
                <a:solidFill>
                  <a:srgbClr val="60748B"/>
                </a:solidFill>
                <a:latin typeface="Aptos"/>
              </a:rPr>
              <a:t>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932688"/>
            <a:ext cx="731520" cy="54864"/>
          </a:xfrm>
          <a:prstGeom prst="rect">
            <a:avLst/>
          </a:prstGeom>
          <a:solidFill>
            <a:srgbClr val="E9B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035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MAVENS  /  WEEK 3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7680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Target</a:t>
            </a:r>
          </a:p>
          <a:p>
            <a:pPr>
              <a:spcAft>
                <a:spcPts val="9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IT &amp; Cybersecurity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C5E6E9"/>
                </a:solidFill>
                <a:latin typeface="Aptos"/>
              </a:defRPr>
            </a:pPr>
            <a:r>
              <a:t>Target and 1 revenue peers</a:t>
            </a:r>
          </a:p>
          <a:p>
            <a:pPr>
              <a:spcAft>
                <a:spcPts val="900"/>
              </a:spcAft>
              <a:defRPr sz="2100" b="0">
                <a:solidFill>
                  <a:srgbClr val="C5E6E9"/>
                </a:solidFill>
                <a:latin typeface="Aptos"/>
              </a:defRPr>
            </a:pPr>
            <a:r>
              <a:t>Public-source research • July 25 – October 25,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Amit Gandre</a:t>
            </a:r>
          </a:p>
          <a:p>
            <a:pPr>
              <a:spcAft>
                <a:spcPts val="9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October 25,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1325880"/>
            <a:ext cx="25603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TARGET RESEARCH BRIEFING</a:t>
            </a:r>
          </a:p>
          <a:p>
            <a:pPr>
              <a:spcAft>
                <a:spcPts val="900"/>
              </a:spcAft>
              <a:defRPr sz="2500" b="1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2 COMPANIES</a:t>
            </a:r>
          </a:p>
          <a:p>
            <a:pPr>
              <a:spcAft>
                <a:spcPts val="9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2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080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GOALS → DELIVERY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0B8A6"/>
      </a:hlink>
      <a:folHlink>
        <a:srgbClr val="20B8A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