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overview of the implemented local n8n system. This deck is distinct from the Target research presentation. Screenshots show actual local workflow canvases captured October 25,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peers is a target, not a guarantee. Final run 196 selected one eligible peer and reports a shortfall of four. Unsupported target revenue blocks research. An eligible-peer shortfall stays explicit. Search excerpts remain preliminary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 routing: Agent 1 inside Research Orchestrator; Agent 2 calls Agent 3 internally. Orchestrator recalls leadership memory and calls Agent 4 for missing/stale profiles; the current cache is 168 hours (seven days). It recalls previous research, compiles PPTX and appends a snapshot. No HTTP Request nodes in current production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Agents are bounded workflows with defined inputs/outputs and local model extraction, not unrestricted autonomous browsers. Agent 1 resides in the main orchestrator. Test workflows are separate from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Screenshot: actual local Research Orchestrator. Financial flow includes report upload/retained-report fallback, peer discovery, revenue extraction, normalization and FX validation. Current user-authorized automatic selection sets sources_verified=false. The node name Finalize Reviewed Peers is retained, but there is no interactive pre-approval form in the current production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 Agent 2 canvas. Current low-credit settings disable the extra local AI query planner and automatic search retries. Six companies require up to 12 base Agent 2 search requests; financial discovery and leadership searches are additional. Unknown dates and weak matches remain review candidates.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 Cybersecurity Signals canvas, called by Agent 2. Local Ollama gemma4:12b with structured output. Guards reject unsupported company claims, generic advice and contract-value inferences. Job advertisements are hiring evidence, not proof of installed technology.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 low-credit Agent 4 canvas. At most six initial searches per company: two discovery plus up to four leader background searches; no automatic retries. Extract Deloitte/KPMG/EY employment and SEC-school education only when supported. The reduced search plan may leave these fields missing. Public LinkedIn snippets are not full-profile retrieval. Orchestrator reuses complete/partial profiles for up to seven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 Research Memory - Recall canvas: form → company key → read saved records → downloadable JSON/PPTX. Preview and test record types remain separate. The UI returns 20 matches at a time. Workflow JSON exports do not include the memory database; preserve the n8n data volume and local memory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tested automatic peer decision is user-authorized and continues with explicit gaps; it does not mean original financial sources have been independently verified. Leadership retrieval uses seven-day cached matching profiles. Unsupported target revenue stops the pipeline and produces a review diagnostic. Executing native searches uses SerpApi allowance.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labels match the current orchestrator form. Uploaded or retained financial evidence still requires original-source verification. A new run may return different eligible peers, source counts, leadership candidates or findings; the archived Target production run is not a promised result for future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Repository: https://github.com/amitgandre/Mavens-Week3-AmitG. For n8n in Docker on Mac, the Ollama credential endpoint is http://host.docker.internal:11434. Internal call workflows are Agent2PublicResearch, Cybersecurity Signals and Agent4LeadershipBackground. Native Data Table IDs and workflow references may require remapping on another instance. Test/cached workflows are optional. Root .env.example and research.py are historical prototypes, not current setup entry points. Preserve the existing database/volume to migrate research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PDF is a shareable export of the presentation. Full local backup contains 28 workflows, including six temporary Target production/recovery/compilation workflows. Portable set contains 22 reusable workflows. Raw backups, memory exports and generated output artifacts are excluded from GitHub. This project overview is the second requested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saved run: research-196. Counts on this slide are read from that run. Images are actual exported Target deck pages: peer revenue/signal comparison and company snapshots. Companies and counts follow the current saved Target run. Metrics are read from the current saved research JSON. The research deck has a dedicated cover; slide count depends on the current evidence and source appendix. Source records include public search evidence and background records, not fully reviewed articles.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Recorded tests live under each agent directory and n8n/orchestrator. Deterministic checks and selected live/cached regressions were completed; this is not a claim of exhaustive correctness or independently verified current corporate facts. Financial, search and leadership stages all use quota beyond the Agent 2 base query count. Public-source retrieval does not require LinkedIn login, and no full-profile scraping occurs.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PowerPoint/PDF deliverables remain local and are linked in the chat. Rebuild this deck with python3 n8n/project-overview/build_presentation.py after capturing screenshots in n8n/output/project-screenshots. Screenshots are real n8n workflow canvases; editable architecture and process summaries are explanatory diagrams, not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mitgandre/Mavens-Week3-AmitG" TargetMode="Externa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932688"/>
            <a:ext cx="731520" cy="54864"/>
          </a:xfrm>
          <a:prstGeom prst="rect">
            <a:avLst/>
          </a:prstGeom>
          <a:solidFill>
            <a:srgbClr val="E9B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303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MAVENS  /  WEEK 3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7680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Public-source IT &amp;</a:t>
            </a:r>
          </a:p>
          <a:p>
            <a:pPr>
              <a:spcAft>
                <a:spcPts val="9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Cybersecurity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C5E6E9"/>
                </a:solidFill>
                <a:latin typeface="Aptos"/>
              </a:defRPr>
            </a:pPr>
            <a:r>
              <a:t>Project goals, agents, architecture and a practical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Amit Gandre</a:t>
            </a:r>
          </a:p>
          <a:p>
            <a:pPr>
              <a:spcAft>
                <a:spcPts val="9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October 25,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1325880"/>
            <a:ext cx="25603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4 AGENTS</a:t>
            </a:r>
          </a:p>
          <a:p>
            <a:pPr>
              <a:spcAft>
                <a:spcPts val="9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1 ORCHESTRATOR</a:t>
            </a:r>
          </a:p>
          <a:p>
            <a:pPr>
              <a:spcAft>
                <a:spcPts val="9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REUSABLE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080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GOALS →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2743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7F83"/>
                </a:solidFill>
                <a:latin typeface="Aptos"/>
              </a:defRPr>
            </a:pPr>
            <a:r>
              <a:t>MAVENS  /  WEEK 3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8334B"/>
                </a:solidFill>
                <a:latin typeface="Aptos"/>
              </a:defRPr>
            </a:pPr>
            <a:r>
              <a:t>Project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7276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78"/>
                </a:solidFill>
                <a:latin typeface="Aptos"/>
              </a:defRPr>
            </a:pPr>
            <a:r>
              <a:t>Turn a company name into a repeatable, source-linked research briefing.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28816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78"/>
                </a:solidFill>
                <a:latin typeface="Aptos"/>
              </a:defRPr>
            </a:pPr>
            <a:r>
              <a:t>Amit Gandre  •  October 25, 2026  •  Public-source research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57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331720"/>
            <a:ext cx="5330952" cy="164592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" y="2331720"/>
            <a:ext cx="41148" cy="16459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78024"/>
            <a:ext cx="50017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01  Identify comparable companies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44952"/>
            <a:ext cx="500176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Find up to five revenue peers using supported financial evidence and sector checks.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331720"/>
            <a:ext cx="5330952" cy="164592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2331720"/>
            <a:ext cx="41148" cy="16459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478024"/>
            <a:ext cx="50017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02  Surface recent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44952"/>
            <a:ext cx="500176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Review three calendar months of IT, cybersecurity, technology and leadership news.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" y="4160520"/>
            <a:ext cx="5330952" cy="164592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" y="4160520"/>
            <a:ext cx="41148" cy="16459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06824"/>
            <a:ext cx="50017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03  Add professional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73752"/>
            <a:ext cx="500176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Research CEO, CISO, CTO and CIO candidates, public career history and LinkedIn links.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4160520"/>
            <a:ext cx="5330952" cy="164592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160520"/>
            <a:ext cx="41148" cy="16459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306824"/>
            <a:ext cx="50017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04  Deliver and remember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873752"/>
            <a:ext cx="500176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Create an editable PowerPoint and retain dated research for comparison and recall.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2743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7F83"/>
                </a:solidFill>
                <a:latin typeface="Aptos"/>
              </a:defRPr>
            </a:pPr>
            <a:r>
              <a:t>MAVENS  /  WEEK 3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8334B"/>
                </a:solidFill>
                <a:latin typeface="Aptos"/>
              </a:defRPr>
            </a:pPr>
            <a:r>
              <a:t>Architecture: from company input to retained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7276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78"/>
                </a:solidFill>
                <a:latin typeface="Aptos"/>
              </a:defRPr>
            </a:pPr>
            <a:r>
              <a:t>Explicit workflow routing connects search, local inference, validation and reporting.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28816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78"/>
                </a:solidFill>
                <a:latin typeface="Aptos"/>
              </a:defRPr>
            </a:pPr>
            <a:r>
              <a:t>Amit Gandre  •  October 25, 2026  •  Public-source research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57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2240280" cy="100584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7F83"/>
                </a:solidFill>
                <a:latin typeface="Aptos"/>
              </a:defRPr>
            </a:pPr>
            <a:r>
              <a:t>COMPANY 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44952"/>
            <a:ext cx="2029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18334B"/>
                </a:solidFill>
                <a:latin typeface="Aptos"/>
              </a:defRPr>
            </a:pPr>
            <a:r>
              <a:t>Name • website • sector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514600"/>
            <a:ext cx="2240280" cy="100584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7" y="2651760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7F83"/>
                </a:solidFill>
                <a:latin typeface="Aptos"/>
              </a:defRPr>
            </a:pPr>
            <a:r>
              <a:t>AGENT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3044952"/>
            <a:ext cx="2029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18334B"/>
                </a:solidFill>
                <a:latin typeface="Aptos"/>
              </a:defRPr>
            </a:pPr>
            <a:r>
              <a:t>Revenue peers + checks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514600"/>
            <a:ext cx="2240280" cy="100584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651760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7F83"/>
                </a:solidFill>
                <a:latin typeface="Aptos"/>
              </a:defRPr>
            </a:pPr>
            <a:r>
              <a:t>AGENTS 2 →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044952"/>
            <a:ext cx="2029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18334B"/>
                </a:solidFill>
                <a:latin typeface="Aptos"/>
              </a:defRPr>
            </a:pPr>
            <a:r>
              <a:t>Search → extract signals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2514600"/>
            <a:ext cx="2240280" cy="100584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8048" y="2651760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7F83"/>
                </a:solidFill>
                <a:latin typeface="Aptos"/>
              </a:defRPr>
            </a:pPr>
            <a:r>
              <a:t>AGENT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3044952"/>
            <a:ext cx="2029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18334B"/>
                </a:solidFill>
                <a:latin typeface="Aptos"/>
              </a:defRPr>
            </a:pPr>
            <a:r>
              <a:t>Leadership + background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277977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007F8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277977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007F8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277977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007F8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4251960"/>
            <a:ext cx="8503920" cy="1051560"/>
          </a:xfrm>
          <a:prstGeom prst="rect">
            <a:avLst/>
          </a:prstGeom>
          <a:solidFill>
            <a:srgbClr val="10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57400" y="4407408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ORCHESTRATOR  →  EDITABLE POWERPOINT  +  RESEARCH 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84632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Append-only Data Table memory  •  Prior-run comparison  •  Download and recall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71500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26578"/>
                </a:solidFill>
                <a:latin typeface="Aptos"/>
              </a:defRPr>
            </a:pPr>
            <a:r>
              <a:t>Runtime: local n8n + Ollama/Gemma  |  External evidence: native Google/SerpApi nodes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2743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7F83"/>
                </a:solidFill>
                <a:latin typeface="Aptos"/>
              </a:defRPr>
            </a:pPr>
            <a:r>
              <a:t>MAVENS  /  WEEK 3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8334B"/>
                </a:solidFill>
                <a:latin typeface="Aptos"/>
              </a:defRPr>
            </a:pPr>
            <a:r>
              <a:t>All agents and their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7276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78"/>
                </a:solidFill>
                <a:latin typeface="Aptos"/>
              </a:defRPr>
            </a:pPr>
            <a:r>
              <a:t>The orchestrator coordinates the four research stages and owns final output.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28816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78"/>
                </a:solidFill>
                <a:latin typeface="Aptos"/>
              </a:defRPr>
            </a:pPr>
            <a:r>
              <a:t>Amit Gandre  •  October 25, 2026  •  Public-source research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57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331720"/>
            <a:ext cx="10954512" cy="630936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41448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7F83"/>
                </a:solidFill>
                <a:latin typeface="Aptos"/>
              </a:defRPr>
            </a:pPr>
            <a:r>
              <a:t>Agent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441448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8334B"/>
                </a:solidFill>
                <a:latin typeface="Aptos"/>
              </a:defRPr>
            </a:pPr>
            <a:r>
              <a:t>Revenue peers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41448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8334B"/>
                </a:solidFill>
                <a:latin typeface="Aptos"/>
              </a:defRPr>
            </a:pPr>
            <a:r>
              <a:t>Company + financial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441448"/>
            <a:ext cx="3977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8334B"/>
                </a:solidFill>
                <a:latin typeface="Aptos"/>
              </a:defRPr>
            </a:pPr>
            <a:r>
              <a:t>Up to five eligible peers; evidence gaps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054096"/>
            <a:ext cx="10954512" cy="630936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163824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7F83"/>
                </a:solidFill>
                <a:latin typeface="Aptos"/>
              </a:defRPr>
            </a:pPr>
            <a:r>
              <a:t>Agent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163824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8334B"/>
                </a:solidFill>
                <a:latin typeface="Aptos"/>
              </a:defRPr>
            </a:pPr>
            <a:r>
              <a:t>Public web and news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163824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8334B"/>
                </a:solidFill>
                <a:latin typeface="Aptos"/>
              </a:defRPr>
            </a:pPr>
            <a:r>
              <a:t>Target + selected peers + date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163824"/>
            <a:ext cx="3977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8334B"/>
                </a:solidFill>
                <a:latin typeface="Aptos"/>
              </a:defRPr>
            </a:pPr>
            <a:r>
              <a:t>Dated headlines, links and evidence package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3776472"/>
            <a:ext cx="10954512" cy="630936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88620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7F83"/>
                </a:solidFill>
                <a:latin typeface="Aptos"/>
              </a:defRPr>
            </a:pPr>
            <a:r>
              <a:t>Agent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88620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8334B"/>
                </a:solidFill>
                <a:latin typeface="Aptos"/>
              </a:defRPr>
            </a:pPr>
            <a:r>
              <a:t>IT / cyber signal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88620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8334B"/>
                </a:solidFill>
                <a:latin typeface="Aptos"/>
              </a:defRPr>
            </a:pPr>
            <a:r>
              <a:t>Supplied public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886200"/>
            <a:ext cx="3977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8334B"/>
                </a:solidFill>
                <a:latin typeface="Aptos"/>
              </a:defRPr>
            </a:pPr>
            <a:r>
              <a:t>Validated, attributed signals and citations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4498848"/>
            <a:ext cx="10954512" cy="630936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608576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7F83"/>
                </a:solidFill>
                <a:latin typeface="Aptos"/>
              </a:defRPr>
            </a:pPr>
            <a:r>
              <a:t>Agent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608576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8334B"/>
                </a:solidFill>
                <a:latin typeface="Aptos"/>
              </a:defRPr>
            </a:pPr>
            <a:r>
              <a:t>Leadership background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608576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8334B"/>
                </a:solidFill>
                <a:latin typeface="Aptos"/>
              </a:defRPr>
            </a:pPr>
            <a:r>
              <a:t>Company + saved profile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4608576"/>
            <a:ext cx="3977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8334B"/>
                </a:solidFill>
                <a:latin typeface="Aptos"/>
              </a:defRPr>
            </a:pPr>
            <a:r>
              <a:t>Role candidates, career/education claims, links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5221224"/>
            <a:ext cx="10954512" cy="630936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30952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7F83"/>
                </a:solidFill>
                <a:latin typeface="Aptos"/>
              </a:defRPr>
            </a:pPr>
            <a:r>
              <a:t>Orchestrator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533095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8334B"/>
                </a:solidFill>
                <a:latin typeface="Aptos"/>
              </a:defRPr>
            </a:pPr>
            <a:r>
              <a:t>Coordinate, compile, retain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330952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8334B"/>
                </a:solidFill>
                <a:latin typeface="Aptos"/>
              </a:defRPr>
            </a:pPr>
            <a:r>
              <a:t>Peer decisions + signals + profiles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5330952"/>
            <a:ext cx="3977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8334B"/>
                </a:solidFill>
                <a:latin typeface="Aptos"/>
              </a:defRPr>
            </a:pPr>
            <a:r>
              <a:t>PPTX + research JSON + persistent snapshot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2743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7F83"/>
                </a:solidFill>
                <a:latin typeface="Aptos"/>
              </a:defRPr>
            </a:pPr>
            <a:r>
              <a:t>MAVENS  /  WEEK 3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8334B"/>
                </a:solidFill>
                <a:latin typeface="Aptos"/>
              </a:defRPr>
            </a:pPr>
            <a:r>
              <a:t>Agent 1: build the revenue peer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7276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78"/>
                </a:solidFill>
                <a:latin typeface="Aptos"/>
              </a:defRPr>
            </a:pPr>
            <a:r>
              <a:t>Research Orchestrator canvas; Agent 1 runs in the opening financial stages.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28816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78"/>
                </a:solidFill>
                <a:latin typeface="Aptos"/>
              </a:defRPr>
            </a:pPr>
            <a:r>
              <a:t>Amit Gandre  •  October 25, 2026  •  Public-source research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578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10" name="Picture 9" descr="orchestrator-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273313"/>
            <a:ext cx="10972799" cy="19913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4617720"/>
            <a:ext cx="3328416" cy="150876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617720"/>
            <a:ext cx="41148" cy="150876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4764024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5330952"/>
            <a:ext cx="2999232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Company identity, annual report or retained revenue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4617720"/>
            <a:ext cx="3328416" cy="150876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4617720"/>
            <a:ext cx="41148" cy="150876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1" y="4764024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5330952"/>
            <a:ext cx="2999232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Quoted amount, year, currency, company attribution and range.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617720"/>
            <a:ext cx="3328416" cy="150876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4617720"/>
            <a:ext cx="41148" cy="150876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4764024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5330952"/>
            <a:ext cx="2999232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Ranked eligible peers and explicit evidence gaps.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2743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7F83"/>
                </a:solidFill>
                <a:latin typeface="Aptos"/>
              </a:defRPr>
            </a:pPr>
            <a:r>
              <a:t>MAVENS  /  WEEK 3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8334B"/>
                </a:solidFill>
                <a:latin typeface="Aptos"/>
              </a:defRPr>
            </a:pPr>
            <a:r>
              <a:t>Agent 2: collect public web and news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7276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78"/>
                </a:solidFill>
                <a:latin typeface="Aptos"/>
              </a:defRPr>
            </a:pPr>
            <a:r>
              <a:t>Native Google News + Google Web return evidence with source URLs.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28816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78"/>
                </a:solidFill>
                <a:latin typeface="Aptos"/>
              </a:defRPr>
            </a:pPr>
            <a:r>
              <a:t>Amit Gandre  •  October 25, 2026  •  Public-source research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578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10" name="Picture 9" descr="agent2-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273313"/>
            <a:ext cx="10972799" cy="19913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4617720"/>
            <a:ext cx="3328416" cy="150876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617720"/>
            <a:ext cx="41148" cy="150876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4764024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5330952"/>
            <a:ext cx="2999232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Current low-credit mode uses two core searches per company.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4617720"/>
            <a:ext cx="3328416" cy="150876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4617720"/>
            <a:ext cx="41148" cy="150876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1" y="4764024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5330952"/>
            <a:ext cx="2999232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Apply research dates, company matching, URL cleanup and deduplication.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617720"/>
            <a:ext cx="3328416" cy="150876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4617720"/>
            <a:ext cx="41148" cy="150876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4764024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HANDOFF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5330952"/>
            <a:ext cx="2999232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Package source evidence and send it to Agent 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2743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7F83"/>
                </a:solidFill>
                <a:latin typeface="Aptos"/>
              </a:defRPr>
            </a:pPr>
            <a:r>
              <a:t>MAVENS  /  WEEK 3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8334B"/>
                </a:solidFill>
                <a:latin typeface="Aptos"/>
              </a:defRPr>
            </a:pPr>
            <a:r>
              <a:t>Agent 3: extract supported IT / cyber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7276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78"/>
                </a:solidFill>
                <a:latin typeface="Aptos"/>
              </a:defRPr>
            </a:pPr>
            <a:r>
              <a:t>Local Gemma extracts structured claims; deterministic checks narrow what is retained.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28816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78"/>
                </a:solidFill>
                <a:latin typeface="Aptos"/>
              </a:defRPr>
            </a:pPr>
            <a:r>
              <a:t>Amit Gandre  •  October 25, 2026  •  Public-source research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578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10" name="Picture 9" descr="agent3-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273313"/>
            <a:ext cx="10972799" cy="19913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4617720"/>
            <a:ext cx="3328416" cy="150876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617720"/>
            <a:ext cx="41148" cy="150876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4764024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5330952"/>
            <a:ext cx="2999232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Leadership, contracts, cyber news and technology signals.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4617720"/>
            <a:ext cx="3328416" cy="150876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4617720"/>
            <a:ext cx="41148" cy="150876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1" y="4764024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5330952"/>
            <a:ext cx="2999232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Check company attribution, source quotes and date window.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617720"/>
            <a:ext cx="3328416" cy="150876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4617720"/>
            <a:ext cx="41148" cy="150876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4764024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LABEL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5330952"/>
            <a:ext cx="2999232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Separate hiring, planned activity and announced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2743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7F83"/>
                </a:solidFill>
                <a:latin typeface="Aptos"/>
              </a:defRPr>
            </a:pPr>
            <a:r>
              <a:t>MAVENS  /  WEEK 3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8334B"/>
                </a:solidFill>
                <a:latin typeface="Aptos"/>
              </a:defRPr>
            </a:pPr>
            <a:r>
              <a:t>Agent 4: research public leadership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7276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78"/>
                </a:solidFill>
                <a:latin typeface="Aptos"/>
              </a:defRPr>
            </a:pPr>
            <a:r>
              <a:t>Discover CEO / CISO / CTO / CIO candidates and preserve uncertainty.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28816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78"/>
                </a:solidFill>
                <a:latin typeface="Aptos"/>
              </a:defRPr>
            </a:pPr>
            <a:r>
              <a:t>Amit Gandre  •  October 25, 2026  •  Public-source research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578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10" name="Picture 9" descr="agent4-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273313"/>
            <a:ext cx="10972799" cy="19913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4617720"/>
            <a:ext cx="3328416" cy="150876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617720"/>
            <a:ext cx="41148" cy="150876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4764024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5330952"/>
            <a:ext cx="2999232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Two combined leadership searches, then validate candidates.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4617720"/>
            <a:ext cx="3328416" cy="150876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4617720"/>
            <a:ext cx="41148" cy="150876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1" y="4764024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ENRICH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5330952"/>
            <a:ext cx="2999232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One public LinkedIn search per distinct leader; up to four people.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617720"/>
            <a:ext cx="3328416" cy="150876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4617720"/>
            <a:ext cx="41148" cy="150876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4764024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RETAIN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5330952"/>
            <a:ext cx="2999232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Append profiles with dates, source links and missing/conflicting roles.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2743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7F83"/>
                </a:solidFill>
                <a:latin typeface="Aptos"/>
              </a:defRPr>
            </a:pPr>
            <a:r>
              <a:t>MAVENS  /  WEEK 3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8334B"/>
                </a:solidFill>
                <a:latin typeface="Aptos"/>
              </a:defRPr>
            </a:pPr>
            <a:r>
              <a:t>Research memory: retain, compare and recall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7276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78"/>
                </a:solidFill>
                <a:latin typeface="Aptos"/>
              </a:defRPr>
            </a:pPr>
            <a:r>
              <a:t>Actual recall workflow; production research is retained in the native n8n Data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28816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78"/>
                </a:solidFill>
                <a:latin typeface="Aptos"/>
              </a:defRPr>
            </a:pPr>
            <a:r>
              <a:t>Amit Gandre  •  October 25, 2026  •  Public-source research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578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10" name="Picture 9" descr="memory-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242677"/>
            <a:ext cx="10972800" cy="205260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4617720"/>
            <a:ext cx="3328416" cy="150876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617720"/>
            <a:ext cx="41148" cy="150876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4764024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APPEND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5330952"/>
            <a:ext cx="2999232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Keep research snapshots, leadership profiles and PowerPoint bytes.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4617720"/>
            <a:ext cx="3328416" cy="150876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4617720"/>
            <a:ext cx="41148" cy="150876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1" y="4764024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5330952"/>
            <a:ext cx="2999232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Mark prior evidence and newly observed sources across runs.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617720"/>
            <a:ext cx="3328416" cy="150876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4617720"/>
            <a:ext cx="41148" cy="150876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4764024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5330952"/>
            <a:ext cx="2999232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Search by company; use a run ID to retrieve an older saved version.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2743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7F83"/>
                </a:solidFill>
                <a:latin typeface="Aptos"/>
              </a:defRPr>
            </a:pPr>
            <a:r>
              <a:t>MAVENS  /  WEEK 3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8334B"/>
                </a:solidFill>
                <a:latin typeface="Aptos"/>
              </a:defRPr>
            </a:pPr>
            <a:r>
              <a:t>How to run: use the existing local 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7276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78"/>
                </a:solidFill>
                <a:latin typeface="Aptos"/>
              </a:defRPr>
            </a:pPr>
            <a:r>
              <a:t>Use Research Orchestrator at localhost:5678; the tested fixes are now published.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28816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78"/>
                </a:solidFill>
                <a:latin typeface="Aptos"/>
              </a:defRPr>
            </a:pPr>
            <a:r>
              <a:t>Amit Gandre  •  October 25, 2026  •  Public-source research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57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221992"/>
            <a:ext cx="384048" cy="384048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2631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221992"/>
            <a:ext cx="2788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8334B"/>
                </a:solidFill>
                <a:latin typeface="Aptos"/>
              </a:defRPr>
            </a:pPr>
            <a:r>
              <a:t>Start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221992"/>
            <a:ext cx="7132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8334B"/>
                </a:solidFill>
                <a:latin typeface="Aptos"/>
              </a:defRPr>
            </a:pPr>
            <a:r>
              <a:t>Keep Docker/n8n and local Ollama running; confirm gemma4:12b is available.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962656"/>
            <a:ext cx="384048" cy="384048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0038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962656"/>
            <a:ext cx="2788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8334B"/>
                </a:solidFill>
                <a:latin typeface="Aptos"/>
              </a:defRPr>
            </a:pPr>
            <a:r>
              <a:t>Open the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962656"/>
            <a:ext cx="7132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8334B"/>
                </a:solidFill>
                <a:latin typeface="Aptos"/>
              </a:defRPr>
            </a:pPr>
            <a:r>
              <a:t>Open Research Orchestrator, refresh the editor, click Execute workflow and open its form.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703320"/>
            <a:ext cx="384048" cy="384048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7444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703320"/>
            <a:ext cx="2788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8334B"/>
                </a:solidFill>
                <a:latin typeface="Aptos"/>
              </a:defRPr>
            </a:pPr>
            <a:r>
              <a:t>Submit the company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3703320"/>
            <a:ext cx="7132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8334B"/>
                </a:solidFill>
                <a:latin typeface="Aptos"/>
              </a:defRPr>
            </a:pPr>
            <a:r>
              <a:t>Enter real company name, official website, sector and geography. Attach an annual report when available.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443984"/>
            <a:ext cx="384048" cy="384048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4851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443984"/>
            <a:ext cx="2788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8334B"/>
                </a:solidFill>
                <a:latin typeface="Aptos"/>
              </a:defRPr>
            </a:pPr>
            <a:r>
              <a:t>Let the stages 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4443984"/>
            <a:ext cx="7132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8334B"/>
                </a:solidFill>
                <a:latin typeface="Aptos"/>
              </a:defRPr>
            </a:pPr>
            <a:r>
              <a:t>Peer checks → public search → signal extraction → leadership recall/research → presentation and memory.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184648"/>
            <a:ext cx="384048" cy="384048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52257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184648"/>
            <a:ext cx="2788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8334B"/>
                </a:solidFill>
                <a:latin typeface="Aptos"/>
              </a:defRPr>
            </a:pPr>
            <a:r>
              <a:t>Download your briefing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5184648"/>
            <a:ext cx="7132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8334B"/>
                </a:solidFill>
                <a:latin typeface="Aptos"/>
              </a:defRPr>
            </a:pPr>
            <a:r>
              <a:t>Open Download Briefing → Binary → presentation. Use Research Memory - Recall for saved versions.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2743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7F83"/>
                </a:solidFill>
                <a:latin typeface="Aptos"/>
              </a:defRPr>
            </a:pPr>
            <a:r>
              <a:t>MAVENS  /  WEEK 3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8334B"/>
                </a:solidFill>
                <a:latin typeface="Aptos"/>
              </a:defRPr>
            </a:pPr>
            <a:r>
              <a:t>Example input: reproduce the Target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7276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78"/>
                </a:solidFill>
                <a:latin typeface="Aptos"/>
              </a:defRPr>
            </a:pPr>
            <a:r>
              <a:t>The main form supplies the company identity and financial-comparison context.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28816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78"/>
                </a:solidFill>
                <a:latin typeface="Aptos"/>
              </a:defRPr>
            </a:pPr>
            <a:r>
              <a:t>Amit Gandre  •  October 25, 2026  •  Public-source research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57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86000"/>
            <a:ext cx="5330952" cy="333756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86000"/>
            <a:ext cx="41148" cy="333756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432304"/>
            <a:ext cx="50017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FORM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999232"/>
            <a:ext cx="5001768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Company Name: Target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Official Website: https://corporate.target.com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Industry Sector: Retail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Geography: United States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Annual Report: upload if available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286000"/>
            <a:ext cx="5330952" cy="333756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2286000"/>
            <a:ext cx="41148" cy="333756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432304"/>
            <a:ext cx="50017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OPTIONAL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99232"/>
            <a:ext cx="5001768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Annual Report URL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Minimum / Maximum Revenue Ratio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FX Rates JSON when supported conversion is needed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News window: three calendar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7959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78"/>
                </a:solidFill>
                <a:latin typeface="Aptos"/>
              </a:defRPr>
            </a:pPr>
            <a:r>
              <a:t>Expected output: a dated briefing, explicit coverage gaps, source links and a retained research snapshot.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2743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7F83"/>
                </a:solidFill>
                <a:latin typeface="Aptos"/>
              </a:defRPr>
            </a:pPr>
            <a:r>
              <a:t>MAVENS  /  WEEK 3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8334B"/>
                </a:solidFill>
                <a:latin typeface="Aptos"/>
              </a:defRPr>
            </a:pPr>
            <a:r>
              <a:t>How to set up from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7276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78"/>
                </a:solidFill>
                <a:latin typeface="Aptos"/>
              </a:defRPr>
            </a:pPr>
            <a:r>
              <a:t>Import portable workflows, configure local dependencies and reconnect credentials.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28816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78"/>
                </a:solidFill>
                <a:latin typeface="Aptos"/>
              </a:defRPr>
            </a:pPr>
            <a:r>
              <a:t>Amit Gandre  •  October 25, 2026  •  Public-source research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57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86000"/>
            <a:ext cx="3493008" cy="342900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86000"/>
            <a:ext cx="41148" cy="342900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432304"/>
            <a:ext cx="31638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01  GET THE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999232"/>
            <a:ext cx="3163824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Clone amitgandre/Mavens-Week3-AmitG.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Use n8n/saved-workflows/all-workflows.json or import individual production workflows.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286000"/>
            <a:ext cx="3493008" cy="342900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286000"/>
            <a:ext cx="41148" cy="342900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2432304"/>
            <a:ext cx="31638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02  CONNECT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999232"/>
            <a:ext cx="3163824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Run n8n with persistent storage.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Install Ollama + gemma4:12b. Configure Ollama and SerpApi credentials; native search nodes must be available.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286000"/>
            <a:ext cx="3493008" cy="342900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286000"/>
            <a:ext cx="41148" cy="342900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2432304"/>
            <a:ext cx="31638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03  INITIALIZE &amp;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999232"/>
            <a:ext cx="3163824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Inspect Research Memory - Setup and create/map the native Data Table.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Publish internal-call workflows, remap references if needed, then run the local model check.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253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78"/>
                </a:solidFill>
                <a:latin typeface="Aptos"/>
              </a:defRPr>
            </a:pPr>
            <a:r>
              <a:t>Portable imports are inactive and contain no credential references. Memory and generated files remain local.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2743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7F83"/>
                </a:solidFill>
                <a:latin typeface="Aptos"/>
              </a:defRPr>
            </a:pPr>
            <a:r>
              <a:t>MAVENS  /  WEEK 3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8334B"/>
                </a:solidFill>
                <a:latin typeface="Aptos"/>
              </a:defRPr>
            </a:pPr>
            <a:r>
              <a:t>Deliverables: a usable research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7276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78"/>
                </a:solidFill>
                <a:latin typeface="Aptos"/>
              </a:defRPr>
            </a:pPr>
            <a:r>
              <a:t>Outputs support both presentation and further evidence 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28816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78"/>
                </a:solidFill>
                <a:latin typeface="Aptos"/>
              </a:defRPr>
            </a:pPr>
            <a:r>
              <a:t>Amit Gandre  •  October 25, 2026  •  Public-source research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57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31720"/>
            <a:ext cx="5330952" cy="164592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41148" cy="16459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478024"/>
            <a:ext cx="50017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EDITABLE POWERPOINT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044952"/>
            <a:ext cx="500176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Target-final-briefing.pptx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Peer comparison, selected signals, leadership and linked sources.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331720"/>
            <a:ext cx="5330952" cy="164592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2331720"/>
            <a:ext cx="41148" cy="16459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478024"/>
            <a:ext cx="50017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COMPLETE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44952"/>
            <a:ext cx="500176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Target-final-briefing.json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Full evidence, quotations, source registry, dates and gaps.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60520"/>
            <a:ext cx="5330952" cy="164592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160520"/>
            <a:ext cx="41148" cy="16459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4306824"/>
            <a:ext cx="50017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REUSABLE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873752"/>
            <a:ext cx="500176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22 portable production/test workflow exports, agent source, checks and documentation.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4160520"/>
            <a:ext cx="5330952" cy="164592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160520"/>
            <a:ext cx="41148" cy="16459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306824"/>
            <a:ext cx="50017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PERSISTENT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873752"/>
            <a:ext cx="500176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Native memory retains dated research and deck bytes; recall retrieves saved versions.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2743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7F83"/>
                </a:solidFill>
                <a:latin typeface="Aptos"/>
              </a:defRPr>
            </a:pPr>
            <a:r>
              <a:t>MAVENS  /  WEEK 3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8334B"/>
                </a:solidFill>
                <a:latin typeface="Aptos"/>
              </a:defRPr>
            </a:pPr>
            <a:r>
              <a:t>Example delivery: the Target research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7276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78"/>
                </a:solidFill>
                <a:latin typeface="Aptos"/>
              </a:defRPr>
            </a:pPr>
            <a:r>
              <a:t>Actual generated presentation pages, retained separately from this project walkthrough.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28816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78"/>
                </a:solidFill>
                <a:latin typeface="Aptos"/>
              </a:defRPr>
            </a:pPr>
            <a:r>
              <a:t>Amit Gandre  •  October 25, 2026  •  Public-source research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578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10" name="Picture 9" descr="target-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51710"/>
            <a:ext cx="5486400" cy="3086100"/>
          </a:xfrm>
          <a:prstGeom prst="rect">
            <a:avLst/>
          </a:prstGeom>
        </p:spPr>
      </p:pic>
      <p:pic>
        <p:nvPicPr>
          <p:cNvPr id="11" name="Picture 10" descr="target-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64568"/>
            <a:ext cx="5440680" cy="306038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54864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007F8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710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26578"/>
                </a:solidFill>
                <a:latin typeface="Aptos"/>
              </a:defRPr>
            </a:pPr>
            <a:r>
              <a:t>Companies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54864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007F8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59710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26578"/>
                </a:solidFill>
                <a:latin typeface="Aptos"/>
              </a:defRPr>
            </a:pPr>
            <a:r>
              <a:t>Extracted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4864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007F83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9710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26578"/>
                </a:solidFill>
                <a:latin typeface="Aptos"/>
              </a:defRPr>
            </a:pPr>
            <a:r>
              <a:t>Source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54864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007F8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59710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26578"/>
                </a:solidFill>
                <a:latin typeface="Aptos"/>
              </a:defRPr>
            </a:pPr>
            <a:r>
              <a:t>Leaders researched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2743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7F83"/>
                </a:solidFill>
                <a:latin typeface="Aptos"/>
              </a:defRPr>
            </a:pPr>
            <a:r>
              <a:t>MAVENS  /  WEEK 3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8334B"/>
                </a:solidFill>
                <a:latin typeface="Aptos"/>
              </a:defRPr>
            </a:pPr>
            <a:r>
              <a:t>Validation and operating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7276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78"/>
                </a:solidFill>
                <a:latin typeface="Aptos"/>
              </a:defRPr>
            </a:pPr>
            <a:r>
              <a:t>All four agents executed in final run 196; the five-peer coverage target remains unmet.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28816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78"/>
                </a:solidFill>
                <a:latin typeface="Aptos"/>
              </a:defRPr>
            </a:pPr>
            <a:r>
              <a:t>Amit Gandre  •  October 25, 2026  •  Public-source research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578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31720"/>
            <a:ext cx="5330952" cy="333756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41148" cy="333756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478024"/>
            <a:ext cx="50017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CHECKED IN THIS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044952"/>
            <a:ext cx="5001768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Company attribution and quoted evidence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Structured extraction and date handling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Peer eligibility and unsupported-revenue stops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Append-only memory and prior-run recall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PowerPoint opens, exports and fits slide bounds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331720"/>
            <a:ext cx="5330952" cy="333756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2331720"/>
            <a:ext cx="41148" cy="333756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478024"/>
            <a:ext cx="50017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WHAT THE READER MUST KNOW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44952"/>
            <a:ext cx="5001768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Search snippets need original-source review.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Role candidates may be stale or disputed.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Hiring is not evidence of deployment.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Signal counts are not security-risk scores.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Low-credit search limits coverage; missing means insufficient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70448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007F83"/>
                </a:solidFill>
                <a:latin typeface="Aptos"/>
              </a:defRPr>
            </a:pPr>
            <a:r>
              <a:t>Final run 196: all four agents completed; 1/5 peers qualified. Tested changes are published.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2743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7F83"/>
                </a:solidFill>
                <a:latin typeface="Aptos"/>
              </a:defRPr>
            </a:pPr>
            <a:r>
              <a:t>MAVENS  /  WEEK 3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8334B"/>
                </a:solidFill>
                <a:latin typeface="Aptos"/>
              </a:defRPr>
            </a:pPr>
            <a:r>
              <a:t>Handoff: code, workflow entry points and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7276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78"/>
                </a:solidFill>
                <a:latin typeface="Aptos"/>
              </a:defRPr>
            </a:pPr>
            <a:r>
              <a:t>Published workflow, source code and deliverables from the tested implementation.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28816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78"/>
                </a:solidFill>
                <a:latin typeface="Aptos"/>
              </a:defRPr>
            </a:pPr>
            <a:r>
              <a:t>Amit Gandre  •  October 25, 2026  •  Public-source research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578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86000"/>
            <a:ext cx="6720840" cy="324612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86000"/>
            <a:ext cx="41148" cy="32461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432304"/>
            <a:ext cx="639165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GITHUB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999232"/>
            <a:ext cx="6391655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github.com/amitgandre/Mavens-Week3-AmitG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Start: README.md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Import: n8n/saved-workflows/README.md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Run / recall: Research Orchestrator; Research Memory - Recall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Presentation source: n8n/project-overview/build_presentation.py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2286000"/>
            <a:ext cx="3950208" cy="324612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2286000"/>
            <a:ext cx="41148" cy="32461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2432304"/>
            <a:ext cx="36210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7F83"/>
                </a:solidFill>
                <a:latin typeface="Aptos"/>
              </a:defRPr>
            </a:pPr>
            <a:r>
              <a:t>TWO PRESENTATIONS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2999232"/>
            <a:ext cx="3621024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1  Target research briefing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Business research results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2  Project overview</a:t>
            </a:r>
          </a:p>
          <a:p>
            <a:pPr>
              <a:spcAft>
                <a:spcPts val="900"/>
              </a:spcAft>
              <a:defRPr sz="1700" b="0">
                <a:solidFill>
                  <a:srgbClr val="18334B"/>
                </a:solidFill>
                <a:latin typeface="Aptos"/>
              </a:defRPr>
            </a:pPr>
            <a:r>
              <a:t>Goals, agents, architecture, screenshots, operation and deliverables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52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007F83"/>
                </a:solidFill>
                <a:latin typeface="Aptos"/>
              </a:defRPr>
            </a:pPr>
            <a:r>
              <a:rPr>
                <a:hlinkClick r:id="rId2"/>
              </a:rPr>
              <a:t>Open the repository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